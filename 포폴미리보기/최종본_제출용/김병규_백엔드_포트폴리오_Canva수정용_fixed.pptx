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833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56268" y="655919"/>
            <a:ext cx="3791770" cy="262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DDE8F8"/>
                </a:solidFill>
                <a:latin typeface="Malgun Gothic"/>
                <a:ea typeface="Malgun Gothic"/>
              </a:rPr>
              <a:t>BACKEND ENGINEER PORTFOLIO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56268" y="1238959"/>
            <a:ext cx="3427177" cy="80167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5400" b="1">
                <a:solidFill>
                  <a:srgbClr val="FFFFFF"/>
                </a:solidFill>
                <a:latin typeface="Malgun Gothic"/>
                <a:ea typeface="Malgun Gothic"/>
              </a:rPr>
              <a:t>김병규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6268" y="2295717"/>
            <a:ext cx="6781435" cy="4081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800" b="1">
                <a:solidFill>
                  <a:srgbClr val="DDE8F8"/>
                </a:solidFill>
                <a:latin typeface="Malgun Gothic"/>
                <a:ea typeface="Malgun Gothic"/>
              </a:rPr>
              <a:t>인증 · 결제 · 운영 흐름을 검증하는 백엔드 개발자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6268" y="2951637"/>
            <a:ext cx="6343923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>
                <a:solidFill>
                  <a:srgbClr val="DDE8F8"/>
                </a:solidFill>
                <a:latin typeface="Malgun Gothic"/>
                <a:ea typeface="Malgun Gothic"/>
              </a:rPr>
              <a:t>기능 구현에서 멈추지 않고, 결제 이력 정합성·웹훅 멱등성·관리자 세션 등 운영상 깨질 수 있는 흐름을 설계하고 검증합니다.</a:t>
            </a:r>
          </a:p>
        </p:txBody>
      </p:sp>
      <p:sp>
        <p:nvSpPr>
          <p:cNvPr id="7" name="Shape 7"/>
          <p:cNvSpPr/>
          <p:nvPr/>
        </p:nvSpPr>
        <p:spPr>
          <a:xfrm>
            <a:off x="656268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43770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Java</a:t>
            </a:r>
          </a:p>
        </p:txBody>
      </p:sp>
      <p:sp>
        <p:nvSpPr>
          <p:cNvPr id="9" name="Shape 9"/>
          <p:cNvSpPr/>
          <p:nvPr/>
        </p:nvSpPr>
        <p:spPr>
          <a:xfrm>
            <a:off x="1472957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560459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Spring Boot</a:t>
            </a:r>
          </a:p>
        </p:txBody>
      </p:sp>
      <p:sp>
        <p:nvSpPr>
          <p:cNvPr id="11" name="Shape 11"/>
          <p:cNvSpPr/>
          <p:nvPr/>
        </p:nvSpPr>
        <p:spPr>
          <a:xfrm>
            <a:off x="2289646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2377148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Spring Security</a:t>
            </a:r>
          </a:p>
        </p:txBody>
      </p:sp>
      <p:sp>
        <p:nvSpPr>
          <p:cNvPr id="13" name="Shape 13"/>
          <p:cNvSpPr/>
          <p:nvPr/>
        </p:nvSpPr>
        <p:spPr>
          <a:xfrm>
            <a:off x="3106335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3193837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JWT</a:t>
            </a:r>
          </a:p>
        </p:txBody>
      </p:sp>
      <p:sp>
        <p:nvSpPr>
          <p:cNvPr id="15" name="Shape 15"/>
          <p:cNvSpPr/>
          <p:nvPr/>
        </p:nvSpPr>
        <p:spPr>
          <a:xfrm>
            <a:off x="3923024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010526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Redis</a:t>
            </a:r>
          </a:p>
        </p:txBody>
      </p:sp>
      <p:sp>
        <p:nvSpPr>
          <p:cNvPr id="17" name="Shape 17"/>
          <p:cNvSpPr/>
          <p:nvPr/>
        </p:nvSpPr>
        <p:spPr>
          <a:xfrm>
            <a:off x="4739713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827215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PortOne</a:t>
            </a:r>
          </a:p>
        </p:txBody>
      </p:sp>
      <p:sp>
        <p:nvSpPr>
          <p:cNvPr id="19" name="Shape 19"/>
          <p:cNvSpPr/>
          <p:nvPr/>
        </p:nvSpPr>
        <p:spPr>
          <a:xfrm>
            <a:off x="5556402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5643904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WebSocket</a:t>
            </a:r>
          </a:p>
        </p:txBody>
      </p:sp>
      <p:sp>
        <p:nvSpPr>
          <p:cNvPr id="21" name="Shape 21"/>
          <p:cNvSpPr/>
          <p:nvPr/>
        </p:nvSpPr>
        <p:spPr>
          <a:xfrm>
            <a:off x="6373091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460593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AWS</a:t>
            </a:r>
          </a:p>
        </p:txBody>
      </p:sp>
      <p:sp>
        <p:nvSpPr>
          <p:cNvPr id="23" name="Shape 23"/>
          <p:cNvSpPr/>
          <p:nvPr/>
        </p:nvSpPr>
        <p:spPr>
          <a:xfrm>
            <a:off x="7189780" y="3607556"/>
            <a:ext cx="729187" cy="291520"/>
          </a:xfrm>
          <a:prstGeom prst="roundRect">
            <a:avLst/>
          </a:prstGeom>
          <a:solidFill>
            <a:srgbClr val="1C3664"/>
          </a:solidFill>
          <a:ln w="12700">
            <a:solidFill>
              <a:srgbClr val="588BD9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277282" y="3680436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>Docker</a:t>
            </a:r>
          </a:p>
        </p:txBody>
      </p:sp>
      <p:sp>
        <p:nvSpPr>
          <p:cNvPr id="25" name="Shape 25"/>
          <p:cNvSpPr/>
          <p:nvPr/>
        </p:nvSpPr>
        <p:spPr>
          <a:xfrm>
            <a:off x="656268" y="4299915"/>
            <a:ext cx="2187560" cy="1384718"/>
          </a:xfrm>
          <a:prstGeom prst="roundRect">
            <a:avLst/>
          </a:prstGeom>
          <a:solidFill>
            <a:srgbClr val="203C70"/>
          </a:solidFill>
          <a:ln w="12700">
            <a:solidFill>
              <a:srgbClr val="588BD9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911483" y="4554995"/>
            <a:ext cx="656268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4EA0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911483" y="5138034"/>
            <a:ext cx="1604211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</a:rPr>
              <a:t>대표 프로젝트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11483" y="5429554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DDE8F8"/>
                </a:solidFill>
                <a:latin typeface="Malgun Gothic"/>
                <a:ea typeface="Malgun Gothic"/>
              </a:rPr>
              <a:t>Univ-US · GRIP</a:t>
            </a:r>
          </a:p>
        </p:txBody>
      </p:sp>
      <p:sp>
        <p:nvSpPr>
          <p:cNvPr id="29" name="Shape 29"/>
          <p:cNvSpPr/>
          <p:nvPr/>
        </p:nvSpPr>
        <p:spPr>
          <a:xfrm>
            <a:off x="2989665" y="4299915"/>
            <a:ext cx="2187560" cy="1384718"/>
          </a:xfrm>
          <a:prstGeom prst="roundRect">
            <a:avLst/>
          </a:prstGeom>
          <a:solidFill>
            <a:srgbClr val="203C70"/>
          </a:solidFill>
          <a:ln w="12700">
            <a:solidFill>
              <a:srgbClr val="588BD9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3244880" y="4554995"/>
            <a:ext cx="656268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4EA0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244880" y="5138034"/>
            <a:ext cx="1604211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</a:rPr>
              <a:t>운영 흐름 개선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244880" y="5429554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DDE8F8"/>
                </a:solidFill>
                <a:latin typeface="Malgun Gothic"/>
                <a:ea typeface="Malgun Gothic"/>
              </a:rPr>
              <a:t>인증 · 결제 · 웹훅 · 세션</a:t>
            </a:r>
          </a:p>
        </p:txBody>
      </p:sp>
      <p:sp>
        <p:nvSpPr>
          <p:cNvPr id="33" name="Shape 33"/>
          <p:cNvSpPr/>
          <p:nvPr/>
        </p:nvSpPr>
        <p:spPr>
          <a:xfrm>
            <a:off x="5323062" y="4299915"/>
            <a:ext cx="2187560" cy="1384718"/>
          </a:xfrm>
          <a:prstGeom prst="roundRect">
            <a:avLst/>
          </a:prstGeom>
          <a:solidFill>
            <a:srgbClr val="203C70"/>
          </a:solidFill>
          <a:ln w="12700">
            <a:solidFill>
              <a:srgbClr val="588BD9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5578278" y="4554995"/>
            <a:ext cx="656268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4EA0FF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578278" y="5138034"/>
            <a:ext cx="1604211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FFFFFF"/>
                </a:solidFill>
                <a:latin typeface="Malgun Gothic"/>
                <a:ea typeface="Malgun Gothic"/>
              </a:rPr>
              <a:t>구독 QA 케이스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8278" y="5429554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DDE8F8"/>
                </a:solidFill>
                <a:latin typeface="Malgun Gothic"/>
                <a:ea typeface="Malgun Gothic"/>
              </a:rPr>
              <a:t>시나리오 기반 검증 완료</a:t>
            </a:r>
          </a:p>
        </p:txBody>
      </p:sp>
      <p:sp>
        <p:nvSpPr>
          <p:cNvPr id="37" name="Shape 37"/>
          <p:cNvSpPr/>
          <p:nvPr/>
        </p:nvSpPr>
        <p:spPr>
          <a:xfrm>
            <a:off x="8057512" y="1297262"/>
            <a:ext cx="2880287" cy="4117715"/>
          </a:xfrm>
          <a:prstGeom prst="roundRect">
            <a:avLst/>
          </a:prstGeom>
          <a:solidFill>
            <a:srgbClr val="11203D"/>
          </a:solidFill>
          <a:ln w="12700">
            <a:solidFill>
              <a:srgbClr val="588BD9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8385646" y="1639798"/>
            <a:ext cx="1895885" cy="255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Malgun Gothic"/>
                <a:ea typeface="Malgun Gothic"/>
              </a:rPr>
              <a:t>Portfolio QR</a:t>
            </a:r>
          </a:p>
        </p:txBody>
      </p:sp>
      <p:pic>
        <p:nvPicPr>
          <p:cNvPr id="39" name="Q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187" y="1894878"/>
            <a:ext cx="1494833" cy="1494038"/>
          </a:xfrm>
          <a:prstGeom prst="rect">
            <a:avLst/>
          </a:prstGeom>
        </p:spPr>
      </p:pic>
      <p:sp>
        <p:nvSpPr>
          <p:cNvPr id="40" name="Text 40"/>
          <p:cNvSpPr txBox="1"/>
          <p:nvPr/>
        </p:nvSpPr>
        <p:spPr>
          <a:xfrm>
            <a:off x="8640861" y="3680436"/>
            <a:ext cx="196880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5BA0FF"/>
                </a:solidFill>
                <a:latin typeface="Malgun Gothic"/>
                <a:ea typeface="Malgun Gothic"/>
              </a:rPr>
              <a:t>kbg-dev-portfolio.vercel.app</a:t>
            </a:r>
          </a:p>
        </p:txBody>
      </p:sp>
      <p:cxnSp>
        <p:nvCxnSpPr>
          <p:cNvPr id="41" name="Line 41"/>
          <p:cNvCxnSpPr/>
          <p:nvPr/>
        </p:nvCxnSpPr>
        <p:spPr>
          <a:xfrm>
            <a:off x="8312727" y="3993819"/>
            <a:ext cx="2333397" cy="0"/>
          </a:xfrm>
          <a:prstGeom prst="line">
            <a:avLst/>
          </a:prstGeom>
          <a:ln w="19050">
            <a:solidFill>
              <a:srgbClr val="588BD9"/>
            </a:solidFill>
          </a:ln>
        </p:spPr>
      </p:cxnSp>
      <p:sp>
        <p:nvSpPr>
          <p:cNvPr id="42" name="Text 42"/>
          <p:cNvSpPr txBox="1"/>
          <p:nvPr/>
        </p:nvSpPr>
        <p:spPr>
          <a:xfrm>
            <a:off x="8371062" y="4336355"/>
            <a:ext cx="61980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GitHub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005455" y="4336355"/>
            <a:ext cx="1750048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github.com/Kim-ByeongGyu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371062" y="4737194"/>
            <a:ext cx="61980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Email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9005455" y="4737194"/>
            <a:ext cx="1750048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zenk5554785@gmail.com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김병규 Backend Engineer Portfolio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1666986" y="255080"/>
            <a:ext cx="291675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 b="1">
                <a:solidFill>
                  <a:srgbClr val="2464E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29187" y="692359"/>
            <a:ext cx="4375120" cy="400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100" b="1">
                <a:solidFill>
                  <a:srgbClr val="0F1D37"/>
                </a:solidFill>
                <a:latin typeface="Malgun Gothic"/>
                <a:ea typeface="Malgun Gothic"/>
              </a:rPr>
              <a:t>요약 및 핵심 역량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29187" y="1129639"/>
            <a:ext cx="4520957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566680"/>
                </a:solidFill>
                <a:latin typeface="Malgun Gothic"/>
                <a:ea typeface="Malgun Gothic"/>
              </a:rPr>
              <a:t>프로젝트 경험과 운영 관점에서 정리한 백엔드 핵심 역량</a:t>
            </a:r>
          </a:p>
        </p:txBody>
      </p:sp>
      <p:sp>
        <p:nvSpPr>
          <p:cNvPr id="51" name="Shape 51"/>
          <p:cNvSpPr/>
          <p:nvPr/>
        </p:nvSpPr>
        <p:spPr>
          <a:xfrm>
            <a:off x="473971" y="1566918"/>
            <a:ext cx="3281340" cy="10931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1494833" y="1785558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0F1D37"/>
                </a:solidFill>
                <a:latin typeface="Malgun Gothic"/>
                <a:ea typeface="Malgun Gothic"/>
              </a:rPr>
              <a:t>소개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1494833" y="2077078"/>
            <a:ext cx="2041722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의료공학 전공에서 개발로 전환하여 기능 구현을 넘어 운영 중 깨질 수 있는 흐름까지 고려합니다.</a:t>
            </a:r>
          </a:p>
        </p:txBody>
      </p:sp>
      <p:sp>
        <p:nvSpPr>
          <p:cNvPr id="54" name="Shape 54"/>
          <p:cNvSpPr/>
          <p:nvPr/>
        </p:nvSpPr>
        <p:spPr>
          <a:xfrm>
            <a:off x="4265742" y="1566918"/>
            <a:ext cx="3281340" cy="10931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5286603" y="1785558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0F1D37"/>
                </a:solidFill>
                <a:latin typeface="Malgun Gothic"/>
                <a:ea typeface="Malgun Gothic"/>
              </a:rPr>
              <a:t>작업 관점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5286603" y="2077078"/>
            <a:ext cx="2041722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인증, 결제, 세션, 웹훅, 관리자 운영 등 실제 서비스에서 문제가 되기 쉬운 흐름을 검증합니다.</a:t>
            </a:r>
          </a:p>
        </p:txBody>
      </p:sp>
      <p:sp>
        <p:nvSpPr>
          <p:cNvPr id="57" name="Shape 57"/>
          <p:cNvSpPr/>
          <p:nvPr/>
        </p:nvSpPr>
        <p:spPr>
          <a:xfrm>
            <a:off x="8130431" y="1566918"/>
            <a:ext cx="3281340" cy="10931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58" name="Text 58"/>
          <p:cNvSpPr txBox="1"/>
          <p:nvPr/>
        </p:nvSpPr>
        <p:spPr>
          <a:xfrm>
            <a:off x="9151292" y="1785558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0F1D37"/>
                </a:solidFill>
                <a:latin typeface="Malgun Gothic"/>
                <a:ea typeface="Malgun Gothic"/>
              </a:rPr>
              <a:t>제출 문서 구성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9151292" y="2077078"/>
            <a:ext cx="2041722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대표 프로젝트, 설계 흐름, 트러블슈팅, 검증 포인트를 중심으로 경험과 역량을 정리했습니다.</a:t>
            </a:r>
          </a:p>
        </p:txBody>
      </p:sp>
      <p:sp>
        <p:nvSpPr>
          <p:cNvPr id="60" name="Shape 60"/>
          <p:cNvSpPr/>
          <p:nvPr/>
        </p:nvSpPr>
        <p:spPr>
          <a:xfrm>
            <a:off x="473971" y="2805877"/>
            <a:ext cx="11229474" cy="22957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61" name="Shape 61"/>
          <p:cNvSpPr/>
          <p:nvPr/>
        </p:nvSpPr>
        <p:spPr>
          <a:xfrm>
            <a:off x="473971" y="2805877"/>
            <a:ext cx="11229474" cy="342536"/>
          </a:xfrm>
          <a:prstGeom prst="roundRect">
            <a:avLst/>
          </a:prstGeom>
          <a:solidFill>
            <a:srgbClr val="061833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765646" y="2915197"/>
            <a:ext cx="1458373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 b="1">
                <a:solidFill>
                  <a:srgbClr val="FFFFFF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3718852" y="2915197"/>
            <a:ext cx="5104306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 b="1">
                <a:solidFill>
                  <a:srgbClr val="FFFFFF"/>
                </a:solidFill>
                <a:latin typeface="Malgun Gothic"/>
                <a:ea typeface="Malgun Gothic"/>
              </a:rPr>
              <a:t>적용 사례 / 검증 방식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802105" y="3279596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인증 / 인가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3718852" y="3279596"/>
            <a:ext cx="7291866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Spring Security / JWT 기반 인증과 역할 기반 인가 설계, 운영 시나리오를 고려한 접근 제어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02105" y="3658572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결제 / 구독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3718852" y="3658572"/>
            <a:ext cx="7291866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PortOne 연동, 웹훅 멱등 처리, 결제 이력 스냅샷 저장, QA 시나리오 기반 검증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802105" y="4037547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세션 관리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3718852" y="4037547"/>
            <a:ext cx="7291866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HttpOnly 쿠키, Redis 기반 refresh/session/admin-session 저장 및 중복 로그인 제어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802105" y="4416523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외부 API 연동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3718852" y="4416523"/>
            <a:ext cx="7291866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Naver Maps, SMS, Kakao OAuth2, PortOne 결제 API 안정 연동 및 예외 처리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02105" y="4795498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실시간 기능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3718852" y="4795498"/>
            <a:ext cx="7291866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STOMP 기반 WebSocket으로 관리자 실시간 문의 채팅 구현 및 연결/전송/수신 흐름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75" name="Text 75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BACKEND ENGINEER PORTFOLIO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704459" y="255080"/>
            <a:ext cx="116669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Project 1 · Univ-US 03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656268" y="692359"/>
            <a:ext cx="4739713" cy="43727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0F1D37"/>
                </a:solidFill>
                <a:latin typeface="Malgun Gothic"/>
                <a:ea typeface="Malgun Gothic"/>
              </a:rPr>
              <a:t>Project 1. Univ-US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656268" y="1166079"/>
            <a:ext cx="4812632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566680"/>
                </a:solidFill>
                <a:latin typeface="Malgun Gothic"/>
                <a:ea typeface="Malgun Gothic"/>
              </a:rPr>
              <a:t>대학 생활 통합 플랫폼 · 인증/결제/관리자 운영 API 담당</a:t>
            </a:r>
          </a:p>
        </p:txBody>
      </p:sp>
      <p:sp>
        <p:nvSpPr>
          <p:cNvPr id="79" name="Shape 79"/>
          <p:cNvSpPr/>
          <p:nvPr/>
        </p:nvSpPr>
        <p:spPr>
          <a:xfrm>
            <a:off x="656268" y="1603358"/>
            <a:ext cx="10864880" cy="1093199"/>
          </a:xfrm>
          <a:prstGeom prst="roundRect">
            <a:avLst/>
          </a:prstGeom>
          <a:solidFill>
            <a:srgbClr val="061833"/>
          </a:solidFill>
          <a:ln>
            <a:noFill/>
          </a:ln>
        </p:spPr>
      </p:sp>
      <p:sp>
        <p:nvSpPr>
          <p:cNvPr id="80" name="Text 80"/>
          <p:cNvSpPr txBox="1"/>
          <p:nvPr/>
        </p:nvSpPr>
        <p:spPr>
          <a:xfrm>
            <a:off x="984402" y="1894878"/>
            <a:ext cx="1895885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Malgun Gothic"/>
                <a:ea typeface="Malgun Gothic"/>
              </a:rPr>
              <a:t>Univ-US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984402" y="2295717"/>
            <a:ext cx="2625072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2026.05 - 2026.06 · 팀 프로젝트 · Backend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4229282" y="2004198"/>
            <a:ext cx="6198086" cy="51015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DDE8F8"/>
                </a:solidFill>
                <a:latin typeface="Malgun Gothic"/>
                <a:ea typeface="Malgun Gothic"/>
              </a:rPr>
              <a:t>대학 생활 통합 플랫폼으로, 학사·커뮤니티·예약·구독 결제·AI 챗봇 등 여러 도메인을 포함한 서비스입니다. 회원 인증/보안, 구독 결제·웹훅, 관리자 운영 API, 관리자 실시간 문의 채팅 API를 담당했습니다.</a:t>
            </a:r>
          </a:p>
        </p:txBody>
      </p:sp>
      <p:sp>
        <p:nvSpPr>
          <p:cNvPr id="83" name="Shape 83"/>
          <p:cNvSpPr/>
          <p:nvPr/>
        </p:nvSpPr>
        <p:spPr>
          <a:xfrm>
            <a:off x="656268" y="2900621"/>
            <a:ext cx="4958469" cy="21863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84" name="Text 84"/>
          <p:cNvSpPr txBox="1"/>
          <p:nvPr/>
        </p:nvSpPr>
        <p:spPr>
          <a:xfrm>
            <a:off x="875024" y="3060956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담당 범위</a:t>
            </a:r>
          </a:p>
        </p:txBody>
      </p:sp>
      <p:sp>
        <p:nvSpPr>
          <p:cNvPr id="85" name="Shape 85"/>
          <p:cNvSpPr/>
          <p:nvPr/>
        </p:nvSpPr>
        <p:spPr>
          <a:xfrm>
            <a:off x="875024" y="3425356"/>
            <a:ext cx="1312536" cy="247792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86" name="Text 86"/>
          <p:cNvSpPr txBox="1"/>
          <p:nvPr/>
        </p:nvSpPr>
        <p:spPr>
          <a:xfrm>
            <a:off x="1057321" y="3476372"/>
            <a:ext cx="116669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2464EB"/>
                </a:solidFill>
                <a:latin typeface="Malgun Gothic"/>
                <a:ea typeface="Malgun Gothic"/>
              </a:rPr>
              <a:t>회원 인증/보안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2406316" y="3461796"/>
            <a:ext cx="277090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JWT 발급·검증, 역할 기반 인가, 세션 관리, 보안 적용</a:t>
            </a:r>
          </a:p>
        </p:txBody>
      </p:sp>
      <p:sp>
        <p:nvSpPr>
          <p:cNvPr id="88" name="Shape 88"/>
          <p:cNvSpPr/>
          <p:nvPr/>
        </p:nvSpPr>
        <p:spPr>
          <a:xfrm>
            <a:off x="875024" y="3833484"/>
            <a:ext cx="1312536" cy="247792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89" name="Text 89"/>
          <p:cNvSpPr txBox="1"/>
          <p:nvPr/>
        </p:nvSpPr>
        <p:spPr>
          <a:xfrm>
            <a:off x="1057321" y="3884499"/>
            <a:ext cx="116669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2464EB"/>
                </a:solidFill>
                <a:latin typeface="Malgun Gothic"/>
                <a:ea typeface="Malgun Gothic"/>
              </a:rPr>
              <a:t>구독 결제·웹훅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2406316" y="3869923"/>
            <a:ext cx="277090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PortOne 연동 구독 결제, 결제 검증, 웹훅 처리</a:t>
            </a:r>
          </a:p>
        </p:txBody>
      </p:sp>
      <p:sp>
        <p:nvSpPr>
          <p:cNvPr id="91" name="Shape 91"/>
          <p:cNvSpPr/>
          <p:nvPr/>
        </p:nvSpPr>
        <p:spPr>
          <a:xfrm>
            <a:off x="875024" y="4241611"/>
            <a:ext cx="1312536" cy="247792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92" name="Text 92"/>
          <p:cNvSpPr txBox="1"/>
          <p:nvPr/>
        </p:nvSpPr>
        <p:spPr>
          <a:xfrm>
            <a:off x="1057321" y="4292627"/>
            <a:ext cx="116669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2464EB"/>
                </a:solidFill>
                <a:latin typeface="Malgun Gothic"/>
                <a:ea typeface="Malgun Gothic"/>
              </a:rPr>
              <a:t>관리자 운영 API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2406316" y="4278051"/>
            <a:ext cx="277090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회원/구독/문의 관리, 통계/리포트, 권한 및 공지 관리</a:t>
            </a:r>
          </a:p>
        </p:txBody>
      </p:sp>
      <p:sp>
        <p:nvSpPr>
          <p:cNvPr id="94" name="Shape 94"/>
          <p:cNvSpPr/>
          <p:nvPr/>
        </p:nvSpPr>
        <p:spPr>
          <a:xfrm>
            <a:off x="875024" y="4649739"/>
            <a:ext cx="1312536" cy="247792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95" name="Text 95"/>
          <p:cNvSpPr txBox="1"/>
          <p:nvPr/>
        </p:nvSpPr>
        <p:spPr>
          <a:xfrm>
            <a:off x="1057321" y="4700755"/>
            <a:ext cx="116669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2464EB"/>
                </a:solidFill>
                <a:latin typeface="Malgun Gothic"/>
                <a:ea typeface="Malgun Gothic"/>
              </a:rPr>
              <a:t>관리자 채팅 API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2406316" y="4686179"/>
            <a:ext cx="2770909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실시간 문의 채팅, 메시지 저장 및 알림, 연결 관리</a:t>
            </a:r>
          </a:p>
        </p:txBody>
      </p:sp>
      <p:sp>
        <p:nvSpPr>
          <p:cNvPr id="97" name="Shape 97"/>
          <p:cNvSpPr/>
          <p:nvPr/>
        </p:nvSpPr>
        <p:spPr>
          <a:xfrm>
            <a:off x="5833493" y="2900621"/>
            <a:ext cx="5541818" cy="21863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98" name="Text 98"/>
          <p:cNvSpPr txBox="1"/>
          <p:nvPr/>
        </p:nvSpPr>
        <p:spPr>
          <a:xfrm>
            <a:off x="6052249" y="3060956"/>
            <a:ext cx="2625072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도메인 / 구성과 담당 영역</a:t>
            </a:r>
          </a:p>
        </p:txBody>
      </p:sp>
      <p:sp>
        <p:nvSpPr>
          <p:cNvPr id="99" name="Shape 99"/>
          <p:cNvSpPr/>
          <p:nvPr/>
        </p:nvSpPr>
        <p:spPr>
          <a:xfrm>
            <a:off x="6343923" y="3643996"/>
            <a:ext cx="1239617" cy="327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00" name="Text 100"/>
          <p:cNvSpPr txBox="1"/>
          <p:nvPr/>
        </p:nvSpPr>
        <p:spPr>
          <a:xfrm>
            <a:off x="6577263" y="3731452"/>
            <a:ext cx="94794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0F1D37"/>
                </a:solidFill>
                <a:latin typeface="Malgun Gothic"/>
                <a:ea typeface="Malgun Gothic"/>
              </a:rPr>
              <a:t>Member/Auth</a:t>
            </a:r>
          </a:p>
        </p:txBody>
      </p:sp>
      <p:sp>
        <p:nvSpPr>
          <p:cNvPr id="101" name="Shape 101"/>
          <p:cNvSpPr/>
          <p:nvPr/>
        </p:nvSpPr>
        <p:spPr>
          <a:xfrm>
            <a:off x="8021053" y="3643996"/>
            <a:ext cx="1239617" cy="327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02" name="Text 102"/>
          <p:cNvSpPr txBox="1"/>
          <p:nvPr/>
        </p:nvSpPr>
        <p:spPr>
          <a:xfrm>
            <a:off x="8239809" y="3731452"/>
            <a:ext cx="94794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0F1D37"/>
                </a:solidFill>
                <a:latin typeface="Malgun Gothic"/>
                <a:ea typeface="Malgun Gothic"/>
              </a:rPr>
              <a:t>Subscription</a:t>
            </a:r>
          </a:p>
        </p:txBody>
      </p:sp>
      <p:sp>
        <p:nvSpPr>
          <p:cNvPr id="103" name="Shape 103"/>
          <p:cNvSpPr/>
          <p:nvPr/>
        </p:nvSpPr>
        <p:spPr>
          <a:xfrm>
            <a:off x="9661722" y="3643996"/>
            <a:ext cx="1239617" cy="327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9844019" y="3731452"/>
            <a:ext cx="94794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0F1D37"/>
                </a:solidFill>
                <a:latin typeface="Malgun Gothic"/>
                <a:ea typeface="Malgun Gothic"/>
              </a:rPr>
              <a:t>Payment/Webhook</a:t>
            </a:r>
          </a:p>
        </p:txBody>
      </p:sp>
      <p:cxnSp>
        <p:nvCxnSpPr>
          <p:cNvPr id="105" name="Line 105"/>
          <p:cNvCxnSpPr/>
          <p:nvPr/>
        </p:nvCxnSpPr>
        <p:spPr>
          <a:xfrm>
            <a:off x="7583541" y="3804332"/>
            <a:ext cx="437512" cy="0"/>
          </a:xfrm>
          <a:prstGeom prst="line">
            <a:avLst/>
          </a:prstGeom>
          <a:ln w="19050">
            <a:solidFill>
              <a:srgbClr val="2464EB"/>
            </a:solidFill>
          </a:ln>
        </p:spPr>
      </p:cxnSp>
      <p:cxnSp>
        <p:nvCxnSpPr>
          <p:cNvPr id="106" name="Line 106"/>
          <p:cNvCxnSpPr/>
          <p:nvPr/>
        </p:nvCxnSpPr>
        <p:spPr>
          <a:xfrm>
            <a:off x="9260670" y="3804332"/>
            <a:ext cx="401053" cy="0"/>
          </a:xfrm>
          <a:prstGeom prst="line">
            <a:avLst/>
          </a:prstGeom>
          <a:ln w="19050">
            <a:solidFill>
              <a:srgbClr val="2464EB"/>
            </a:solidFill>
          </a:ln>
        </p:spPr>
      </p:cxnSp>
      <p:sp>
        <p:nvSpPr>
          <p:cNvPr id="107" name="Shape 107"/>
          <p:cNvSpPr/>
          <p:nvPr/>
        </p:nvSpPr>
        <p:spPr>
          <a:xfrm>
            <a:off x="7620000" y="4482115"/>
            <a:ext cx="1239617" cy="327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08" name="Text 108"/>
          <p:cNvSpPr txBox="1"/>
          <p:nvPr/>
        </p:nvSpPr>
        <p:spPr>
          <a:xfrm>
            <a:off x="7911675" y="4569571"/>
            <a:ext cx="94794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0F1D37"/>
                </a:solidFill>
                <a:latin typeface="Malgun Gothic"/>
                <a:ea typeface="Malgun Gothic"/>
              </a:rPr>
              <a:t>Admin API</a:t>
            </a:r>
          </a:p>
        </p:txBody>
      </p:sp>
      <p:sp>
        <p:nvSpPr>
          <p:cNvPr id="109" name="Shape 109"/>
          <p:cNvSpPr/>
          <p:nvPr/>
        </p:nvSpPr>
        <p:spPr>
          <a:xfrm>
            <a:off x="9260670" y="4482115"/>
            <a:ext cx="1239617" cy="327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10" name="Text 110"/>
          <p:cNvSpPr txBox="1"/>
          <p:nvPr/>
        </p:nvSpPr>
        <p:spPr>
          <a:xfrm>
            <a:off x="9537761" y="4569571"/>
            <a:ext cx="94794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0F1D37"/>
                </a:solidFill>
                <a:latin typeface="Malgun Gothic"/>
                <a:ea typeface="Malgun Gothic"/>
              </a:rPr>
              <a:t>Admin Chat</a:t>
            </a:r>
          </a:p>
        </p:txBody>
      </p:sp>
      <p:cxnSp>
        <p:nvCxnSpPr>
          <p:cNvPr id="111" name="Line 111"/>
          <p:cNvCxnSpPr/>
          <p:nvPr/>
        </p:nvCxnSpPr>
        <p:spPr>
          <a:xfrm>
            <a:off x="8640861" y="3971955"/>
            <a:ext cx="-415636" cy="510159"/>
          </a:xfrm>
          <a:prstGeom prst="line">
            <a:avLst/>
          </a:prstGeom>
          <a:ln w="19050">
            <a:solidFill>
              <a:srgbClr val="2464EB"/>
            </a:solidFill>
          </a:ln>
        </p:spPr>
      </p:cxnSp>
      <p:cxnSp>
        <p:nvCxnSpPr>
          <p:cNvPr id="112" name="Line 112"/>
          <p:cNvCxnSpPr/>
          <p:nvPr/>
        </p:nvCxnSpPr>
        <p:spPr>
          <a:xfrm>
            <a:off x="8640861" y="3971955"/>
            <a:ext cx="1203158" cy="510159"/>
          </a:xfrm>
          <a:prstGeom prst="line">
            <a:avLst/>
          </a:prstGeom>
          <a:ln w="19050">
            <a:solidFill>
              <a:srgbClr val="2464EB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4" name="Text 114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김병규 Backend Engineer Portfolio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0354450" y="255080"/>
            <a:ext cx="1531292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Univ-US · Payment Flow 04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29187" y="692359"/>
            <a:ext cx="4739713" cy="42270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100" b="1">
                <a:solidFill>
                  <a:srgbClr val="0F1D37"/>
                </a:solidFill>
                <a:latin typeface="Malgun Gothic"/>
                <a:ea typeface="Malgun Gothic"/>
              </a:rPr>
              <a:t>구독 · 결제 설계 흐름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802105" y="1166079"/>
            <a:ext cx="495846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566680"/>
                </a:solidFill>
                <a:latin typeface="Malgun Gothic"/>
                <a:ea typeface="Malgun Gothic"/>
              </a:rPr>
              <a:t>PortOne 결제 흐름 및 웹훅 처리, 상태 전이 구조</a:t>
            </a:r>
          </a:p>
        </p:txBody>
      </p:sp>
      <p:sp>
        <p:nvSpPr>
          <p:cNvPr id="118" name="Shape 118"/>
          <p:cNvSpPr/>
          <p:nvPr/>
        </p:nvSpPr>
        <p:spPr>
          <a:xfrm>
            <a:off x="729187" y="1494038"/>
            <a:ext cx="10850297" cy="21499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19" name="Shape 119"/>
          <p:cNvSpPr/>
          <p:nvPr/>
        </p:nvSpPr>
        <p:spPr>
          <a:xfrm>
            <a:off x="1312536" y="1763694"/>
            <a:ext cx="1531292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1713589" y="2186397"/>
            <a:ext cx="87502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500" b="1">
                <a:solidFill>
                  <a:srgbClr val="0F1D37"/>
                </a:solidFill>
                <a:latin typeface="Malgun Gothic"/>
                <a:ea typeface="Malgun Gothic"/>
              </a:rPr>
              <a:t>Prepare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1531292" y="2536221"/>
            <a:ext cx="116669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결제 준비 정보 생성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3026124" y="2128094"/>
            <a:ext cx="401053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600" b="1">
                <a:solidFill>
                  <a:srgbClr val="2464E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3" name="Shape 123"/>
          <p:cNvSpPr/>
          <p:nvPr/>
        </p:nvSpPr>
        <p:spPr>
          <a:xfrm>
            <a:off x="3354258" y="1763694"/>
            <a:ext cx="1531292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24" name="Text 124"/>
          <p:cNvSpPr txBox="1"/>
          <p:nvPr/>
        </p:nvSpPr>
        <p:spPr>
          <a:xfrm>
            <a:off x="3755311" y="2186397"/>
            <a:ext cx="87502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500" b="1">
                <a:solidFill>
                  <a:srgbClr val="0F1D37"/>
                </a:solidFill>
                <a:latin typeface="Malgun Gothic"/>
                <a:ea typeface="Malgun Gothic"/>
              </a:rPr>
              <a:t>Payment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3573014" y="2536221"/>
            <a:ext cx="116669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PortOne 결제창 호출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5067847" y="2128094"/>
            <a:ext cx="401053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600" b="1">
                <a:solidFill>
                  <a:srgbClr val="2464E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7" name="Shape 127"/>
          <p:cNvSpPr/>
          <p:nvPr/>
        </p:nvSpPr>
        <p:spPr>
          <a:xfrm>
            <a:off x="5395981" y="1763694"/>
            <a:ext cx="1531292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28" name="Text 128"/>
          <p:cNvSpPr txBox="1"/>
          <p:nvPr/>
        </p:nvSpPr>
        <p:spPr>
          <a:xfrm>
            <a:off x="5797033" y="2186397"/>
            <a:ext cx="87502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500" b="1">
                <a:solidFill>
                  <a:srgbClr val="0F1D37"/>
                </a:solidFill>
                <a:latin typeface="Malgun Gothic"/>
                <a:ea typeface="Malgun Gothic"/>
              </a:rPr>
              <a:t>Verify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14737" y="2536221"/>
            <a:ext cx="116669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결제 검증 및 확정 처리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109569" y="2128094"/>
            <a:ext cx="401053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600" b="1">
                <a:solidFill>
                  <a:srgbClr val="2464E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1" name="Shape 131"/>
          <p:cNvSpPr/>
          <p:nvPr/>
        </p:nvSpPr>
        <p:spPr>
          <a:xfrm>
            <a:off x="7437703" y="1763694"/>
            <a:ext cx="1531292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32" name="Text 132"/>
          <p:cNvSpPr txBox="1"/>
          <p:nvPr/>
        </p:nvSpPr>
        <p:spPr>
          <a:xfrm>
            <a:off x="7838756" y="2186397"/>
            <a:ext cx="87502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500" b="1">
                <a:solidFill>
                  <a:srgbClr val="0F1D37"/>
                </a:solidFill>
                <a:latin typeface="Malgun Gothic"/>
                <a:ea typeface="Malgun Gothic"/>
              </a:rPr>
              <a:t>Webhook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656459" y="2536221"/>
            <a:ext cx="116669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반복 호출 대비 멱등 처리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151292" y="2128094"/>
            <a:ext cx="401053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600" b="1">
                <a:solidFill>
                  <a:srgbClr val="2464E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5" name="Shape 135"/>
          <p:cNvSpPr/>
          <p:nvPr/>
        </p:nvSpPr>
        <p:spPr>
          <a:xfrm>
            <a:off x="9479426" y="1763694"/>
            <a:ext cx="1531292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36" name="Text 136"/>
          <p:cNvSpPr txBox="1"/>
          <p:nvPr/>
        </p:nvSpPr>
        <p:spPr>
          <a:xfrm>
            <a:off x="9880478" y="2186397"/>
            <a:ext cx="875024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500" b="1">
                <a:solidFill>
                  <a:srgbClr val="0F1D37"/>
                </a:solidFill>
                <a:latin typeface="Malgun Gothic"/>
                <a:ea typeface="Malgun Gothic"/>
              </a:rPr>
              <a:t>History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9698182" y="2536221"/>
            <a:ext cx="116669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결제 이력 및 상태 반영</a:t>
            </a:r>
          </a:p>
        </p:txBody>
      </p:sp>
      <p:sp>
        <p:nvSpPr>
          <p:cNvPr id="138" name="Shape 138"/>
          <p:cNvSpPr/>
          <p:nvPr/>
        </p:nvSpPr>
        <p:spPr>
          <a:xfrm>
            <a:off x="1137531" y="3133836"/>
            <a:ext cx="10026316" cy="378976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139" name="Text 139"/>
          <p:cNvSpPr txBox="1"/>
          <p:nvPr/>
        </p:nvSpPr>
        <p:spPr>
          <a:xfrm>
            <a:off x="1494833" y="3243156"/>
            <a:ext cx="729187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2464EB"/>
                </a:solidFill>
                <a:latin typeface="Malgun Gothic"/>
                <a:ea typeface="Malgun Gothic"/>
              </a:rPr>
              <a:t>설계 기준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2296938" y="3243156"/>
            <a:ext cx="8166890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merchantUid를 중심으로 구독 결제 흐름 전 과정을 검증하고, 중복/실패/취소 상황에서도 일관된 상태 전이를 보장합니다.</a:t>
            </a:r>
          </a:p>
        </p:txBody>
      </p:sp>
      <p:sp>
        <p:nvSpPr>
          <p:cNvPr id="141" name="Shape 141"/>
          <p:cNvSpPr/>
          <p:nvPr/>
        </p:nvSpPr>
        <p:spPr>
          <a:xfrm>
            <a:off x="729187" y="3753316"/>
            <a:ext cx="6416842" cy="2587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42" name="Text 142"/>
          <p:cNvSpPr txBox="1"/>
          <p:nvPr/>
        </p:nvSpPr>
        <p:spPr>
          <a:xfrm>
            <a:off x="1166699" y="3899075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0F1D37"/>
                </a:solidFill>
                <a:latin typeface="Malgun Gothic"/>
                <a:ea typeface="Malgun Gothic"/>
              </a:rPr>
              <a:t>상태 전이 구조</a:t>
            </a:r>
          </a:p>
        </p:txBody>
      </p:sp>
      <p:sp>
        <p:nvSpPr>
          <p:cNvPr id="143" name="Shape 143"/>
          <p:cNvSpPr/>
          <p:nvPr/>
        </p:nvSpPr>
        <p:spPr>
          <a:xfrm>
            <a:off x="1276077" y="4299915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44" name="Text 144"/>
          <p:cNvSpPr txBox="1"/>
          <p:nvPr/>
        </p:nvSpPr>
        <p:spPr>
          <a:xfrm>
            <a:off x="1531292" y="4409235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2464EB"/>
                </a:solidFill>
                <a:latin typeface="Malgun Gothic"/>
                <a:ea typeface="Malgun Gothic"/>
              </a:rPr>
              <a:t>PENDING</a:t>
            </a:r>
          </a:p>
        </p:txBody>
      </p:sp>
      <p:sp>
        <p:nvSpPr>
          <p:cNvPr id="145" name="Shape 145"/>
          <p:cNvSpPr/>
          <p:nvPr/>
        </p:nvSpPr>
        <p:spPr>
          <a:xfrm>
            <a:off x="3427177" y="4299915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46" name="Text 146"/>
          <p:cNvSpPr txBox="1"/>
          <p:nvPr/>
        </p:nvSpPr>
        <p:spPr>
          <a:xfrm>
            <a:off x="3682392" y="4409235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2464EB"/>
                </a:solidFill>
                <a:latin typeface="Malgun Gothic"/>
                <a:ea typeface="Malgun Gothic"/>
              </a:rPr>
              <a:t>READY</a:t>
            </a:r>
          </a:p>
        </p:txBody>
      </p:sp>
      <p:sp>
        <p:nvSpPr>
          <p:cNvPr id="147" name="Shape 147"/>
          <p:cNvSpPr/>
          <p:nvPr/>
        </p:nvSpPr>
        <p:spPr>
          <a:xfrm>
            <a:off x="5578278" y="4299915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48" name="Text 148"/>
          <p:cNvSpPr txBox="1"/>
          <p:nvPr/>
        </p:nvSpPr>
        <p:spPr>
          <a:xfrm>
            <a:off x="5833493" y="4409235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008868"/>
                </a:solidFill>
                <a:latin typeface="Malgun Gothic"/>
                <a:ea typeface="Malgun Gothic"/>
              </a:rPr>
              <a:t>PAID</a:t>
            </a:r>
          </a:p>
        </p:txBody>
      </p:sp>
      <p:sp>
        <p:nvSpPr>
          <p:cNvPr id="149" name="Shape 149"/>
          <p:cNvSpPr/>
          <p:nvPr/>
        </p:nvSpPr>
        <p:spPr>
          <a:xfrm>
            <a:off x="1276077" y="5247354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50" name="Text 150"/>
          <p:cNvSpPr txBox="1"/>
          <p:nvPr/>
        </p:nvSpPr>
        <p:spPr>
          <a:xfrm>
            <a:off x="1531292" y="5356674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E79012"/>
                </a:solidFill>
                <a:latin typeface="Malgun Gothic"/>
                <a:ea typeface="Malgun Gothic"/>
              </a:rPr>
              <a:t>FAILED</a:t>
            </a:r>
          </a:p>
        </p:txBody>
      </p:sp>
      <p:sp>
        <p:nvSpPr>
          <p:cNvPr id="151" name="Shape 151"/>
          <p:cNvSpPr/>
          <p:nvPr/>
        </p:nvSpPr>
        <p:spPr>
          <a:xfrm>
            <a:off x="3427177" y="5247354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52" name="Text 152"/>
          <p:cNvSpPr txBox="1"/>
          <p:nvPr/>
        </p:nvSpPr>
        <p:spPr>
          <a:xfrm>
            <a:off x="3682392" y="5356674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D93025"/>
                </a:solidFill>
                <a:latin typeface="Malgun Gothic"/>
                <a:ea typeface="Malgun Gothic"/>
              </a:rPr>
              <a:t>CANCELED</a:t>
            </a:r>
          </a:p>
        </p:txBody>
      </p:sp>
      <p:sp>
        <p:nvSpPr>
          <p:cNvPr id="153" name="Shape 153"/>
          <p:cNvSpPr/>
          <p:nvPr/>
        </p:nvSpPr>
        <p:spPr>
          <a:xfrm>
            <a:off x="5578278" y="5247354"/>
            <a:ext cx="1276077" cy="378976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5E0EF"/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5833493" y="5356674"/>
            <a:ext cx="80210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300" b="1">
                <a:solidFill>
                  <a:srgbClr val="008868"/>
                </a:solidFill>
                <a:latin typeface="Malgun Gothic"/>
                <a:ea typeface="Malgun Gothic"/>
              </a:rPr>
              <a:t>ACTIVE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2770909" y="4431099"/>
            <a:ext cx="58334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진행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4827215" y="4431099"/>
            <a:ext cx="656268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008868"/>
                </a:solidFill>
                <a:latin typeface="Malgun Gothic"/>
                <a:ea typeface="Malgun Gothic"/>
              </a:rPr>
              <a:t>검증 성공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968804" y="4846514"/>
            <a:ext cx="29167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D93025"/>
                </a:solidFill>
                <a:latin typeface="Malgun Gothic"/>
                <a:ea typeface="Malgun Gothic"/>
              </a:rPr>
              <a:t>실패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119904" y="4846514"/>
            <a:ext cx="291675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D93025"/>
                </a:solidFill>
                <a:latin typeface="Malgun Gothic"/>
                <a:ea typeface="Malgun Gothic"/>
              </a:rPr>
              <a:t>취소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6234545" y="4846514"/>
            <a:ext cx="364593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008868"/>
                </a:solidFill>
                <a:latin typeface="Malgun Gothic"/>
                <a:ea typeface="Malgun Gothic"/>
              </a:rPr>
              <a:t>활성화</a:t>
            </a:r>
          </a:p>
        </p:txBody>
      </p:sp>
      <p:sp>
        <p:nvSpPr>
          <p:cNvPr id="160" name="Shape 160"/>
          <p:cNvSpPr/>
          <p:nvPr/>
        </p:nvSpPr>
        <p:spPr>
          <a:xfrm>
            <a:off x="1137531" y="5815817"/>
            <a:ext cx="5673072" cy="422704"/>
          </a:xfrm>
          <a:prstGeom prst="roundRect">
            <a:avLst/>
          </a:prstGeom>
          <a:solidFill>
            <a:srgbClr val="EDF4FF"/>
          </a:solidFill>
          <a:ln>
            <a:noFill/>
          </a:ln>
        </p:spPr>
      </p:sp>
      <p:sp>
        <p:nvSpPr>
          <p:cNvPr id="161" name="Text 161"/>
          <p:cNvSpPr txBox="1"/>
          <p:nvPr/>
        </p:nvSpPr>
        <p:spPr>
          <a:xfrm>
            <a:off x="1640670" y="5976153"/>
            <a:ext cx="61980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2464EB"/>
                </a:solidFill>
                <a:latin typeface="Malgun Gothic"/>
                <a:ea typeface="Malgun Gothic"/>
              </a:rPr>
              <a:t>정책 노트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2318813" y="6005305"/>
            <a:ext cx="4302201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FAILED/PENDING은 외부 결제 취소 없이 내부 이력 상태만 CANCELED 처리합니다.</a:t>
            </a:r>
          </a:p>
        </p:txBody>
      </p:sp>
      <p:sp>
        <p:nvSpPr>
          <p:cNvPr id="163" name="Shape 163"/>
          <p:cNvSpPr/>
          <p:nvPr/>
        </p:nvSpPr>
        <p:spPr>
          <a:xfrm>
            <a:off x="7423120" y="3753316"/>
            <a:ext cx="4156364" cy="2587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7656459" y="3899075"/>
            <a:ext cx="189588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600" b="1">
                <a:solidFill>
                  <a:srgbClr val="0F1D37"/>
                </a:solidFill>
                <a:latin typeface="Malgun Gothic"/>
                <a:ea typeface="Malgun Gothic"/>
              </a:rPr>
              <a:t>정책 포인트</a:t>
            </a:r>
          </a:p>
        </p:txBody>
      </p:sp>
      <p:sp>
        <p:nvSpPr>
          <p:cNvPr id="165" name="Shape 165"/>
          <p:cNvSpPr/>
          <p:nvPr/>
        </p:nvSpPr>
        <p:spPr>
          <a:xfrm>
            <a:off x="7838756" y="4431099"/>
            <a:ext cx="58335" cy="58304"/>
          </a:xfrm>
          <a:prstGeom prst="roundRect">
            <a:avLst/>
          </a:prstGeom>
          <a:solidFill>
            <a:srgbClr val="2464EB"/>
          </a:solidFill>
          <a:ln>
            <a:noFill/>
          </a:ln>
        </p:spPr>
      </p:sp>
      <p:sp>
        <p:nvSpPr>
          <p:cNvPr id="166" name="Text 166"/>
          <p:cNvSpPr txBox="1"/>
          <p:nvPr/>
        </p:nvSpPr>
        <p:spPr>
          <a:xfrm>
            <a:off x="8042928" y="4372795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READY 단계에서만 웹훅/후속 처리 허용</a:t>
            </a:r>
          </a:p>
        </p:txBody>
      </p:sp>
      <p:sp>
        <p:nvSpPr>
          <p:cNvPr id="167" name="Shape 167"/>
          <p:cNvSpPr/>
          <p:nvPr/>
        </p:nvSpPr>
        <p:spPr>
          <a:xfrm>
            <a:off x="7838756" y="4795498"/>
            <a:ext cx="58335" cy="58304"/>
          </a:xfrm>
          <a:prstGeom prst="roundRect">
            <a:avLst/>
          </a:prstGeom>
          <a:solidFill>
            <a:srgbClr val="2464EB"/>
          </a:solidFill>
          <a:ln>
            <a:noFill/>
          </a:ln>
        </p:spPr>
      </p:sp>
      <p:sp>
        <p:nvSpPr>
          <p:cNvPr id="168" name="Text 168"/>
          <p:cNvSpPr txBox="1"/>
          <p:nvPr/>
        </p:nvSpPr>
        <p:spPr>
          <a:xfrm>
            <a:off x="8042928" y="4737194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반복 웹훅은 상태 확인 후 조기 반환</a:t>
            </a:r>
          </a:p>
        </p:txBody>
      </p:sp>
      <p:sp>
        <p:nvSpPr>
          <p:cNvPr id="169" name="Shape 169"/>
          <p:cNvSpPr/>
          <p:nvPr/>
        </p:nvSpPr>
        <p:spPr>
          <a:xfrm>
            <a:off x="7838756" y="5159898"/>
            <a:ext cx="58335" cy="58304"/>
          </a:xfrm>
          <a:prstGeom prst="roundRect">
            <a:avLst/>
          </a:prstGeom>
          <a:solidFill>
            <a:srgbClr val="2464EB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8042928" y="5101594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결제 이력은 planName, amount 스냅샷 저장</a:t>
            </a:r>
          </a:p>
        </p:txBody>
      </p:sp>
      <p:sp>
        <p:nvSpPr>
          <p:cNvPr id="171" name="Shape 171"/>
          <p:cNvSpPr/>
          <p:nvPr/>
        </p:nvSpPr>
        <p:spPr>
          <a:xfrm>
            <a:off x="7838756" y="5524298"/>
            <a:ext cx="58335" cy="58304"/>
          </a:xfrm>
          <a:prstGeom prst="roundRect">
            <a:avLst/>
          </a:prstGeom>
          <a:solidFill>
            <a:srgbClr val="2464EB"/>
          </a:solidFill>
          <a:ln>
            <a:noFill/>
          </a:ln>
        </p:spPr>
      </p:sp>
      <p:sp>
        <p:nvSpPr>
          <p:cNvPr id="172" name="Text 172"/>
          <p:cNvSpPr txBox="1"/>
          <p:nvPr/>
        </p:nvSpPr>
        <p:spPr>
          <a:xfrm>
            <a:off x="8042928" y="5465994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상태 보호 케이스를 QA로 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김병규 Backend Engineer Portfolio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10354450" y="255080"/>
            <a:ext cx="1385455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Univ-US · Troubleshooting 05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02105" y="670495"/>
            <a:ext cx="4083445" cy="42270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100" b="1">
                <a:solidFill>
                  <a:srgbClr val="0F1D37"/>
                </a:solidFill>
                <a:latin typeface="Malgun Gothic"/>
                <a:ea typeface="Malgun Gothic"/>
              </a:rPr>
              <a:t>트러블슈팅 상세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02105" y="1129639"/>
            <a:ext cx="4958469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566680"/>
                </a:solidFill>
                <a:latin typeface="Malgun Gothic"/>
                <a:ea typeface="Malgun Gothic"/>
              </a:rPr>
              <a:t>운영 중 문제가 되기 쉬운 흐름을 문제 · 해결 · 검증 구조로 정리</a:t>
            </a:r>
          </a:p>
        </p:txBody>
      </p:sp>
      <p:sp>
        <p:nvSpPr>
          <p:cNvPr id="178" name="Shape 178"/>
          <p:cNvSpPr/>
          <p:nvPr/>
        </p:nvSpPr>
        <p:spPr>
          <a:xfrm>
            <a:off x="692727" y="1457598"/>
            <a:ext cx="10828421" cy="23321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79" name="Shape 179"/>
          <p:cNvSpPr/>
          <p:nvPr/>
        </p:nvSpPr>
        <p:spPr>
          <a:xfrm>
            <a:off x="692727" y="1457598"/>
            <a:ext cx="10828421" cy="670495"/>
          </a:xfrm>
          <a:prstGeom prst="roundRect">
            <a:avLst/>
          </a:prstGeom>
          <a:solidFill>
            <a:srgbClr val="2464EB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984402" y="1603358"/>
            <a:ext cx="131253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FFFFFF"/>
                </a:solidFill>
                <a:latin typeface="Malgun Gothic"/>
                <a:ea typeface="Malgun Gothic"/>
              </a:rPr>
              <a:t>Case 01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984402" y="1821998"/>
            <a:ext cx="5395981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000" b="1">
                <a:solidFill>
                  <a:srgbClr val="FFFFFF"/>
                </a:solidFill>
                <a:latin typeface="Malgun Gothic"/>
                <a:ea typeface="Malgun Gothic"/>
              </a:rPr>
              <a:t>플랜 변경 후 과거 결제 이력 정합성 문제</a:t>
            </a:r>
          </a:p>
        </p:txBody>
      </p:sp>
      <p:sp>
        <p:nvSpPr>
          <p:cNvPr id="182" name="Shape 182"/>
          <p:cNvSpPr/>
          <p:nvPr/>
        </p:nvSpPr>
        <p:spPr>
          <a:xfrm>
            <a:off x="911483" y="2259277"/>
            <a:ext cx="10390909" cy="400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1786507" y="2361309"/>
            <a:ext cx="58334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 b="1">
                <a:solidFill>
                  <a:srgbClr val="B91C1C"/>
                </a:solidFill>
                <a:latin typeface="Malgun Gothic"/>
                <a:ea typeface="Malgun Gothic"/>
              </a:rPr>
              <a:t>문제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3354258" y="2361309"/>
            <a:ext cx="656267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566680"/>
                </a:solidFill>
                <a:latin typeface="Malgun Gothic"/>
                <a:ea typeface="Malgun Gothic"/>
              </a:rPr>
              <a:t>플랜 수정 후 과거 결제 이력이 최신 플랜명/가격으로 조회되는 정합성 문제</a:t>
            </a:r>
          </a:p>
        </p:txBody>
      </p:sp>
      <p:sp>
        <p:nvSpPr>
          <p:cNvPr id="185" name="Shape 185"/>
          <p:cNvSpPr/>
          <p:nvPr/>
        </p:nvSpPr>
        <p:spPr>
          <a:xfrm>
            <a:off x="911483" y="2784013"/>
            <a:ext cx="10390909" cy="400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86" name="Text 186"/>
          <p:cNvSpPr txBox="1"/>
          <p:nvPr/>
        </p:nvSpPr>
        <p:spPr>
          <a:xfrm>
            <a:off x="1786507" y="2886045"/>
            <a:ext cx="58334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 b="1">
                <a:solidFill>
                  <a:srgbClr val="2464EB"/>
                </a:solidFill>
                <a:latin typeface="Malgun Gothic"/>
                <a:ea typeface="Malgun Gothic"/>
              </a:rPr>
              <a:t>해결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3354258" y="2886045"/>
            <a:ext cx="656267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566680"/>
                </a:solidFill>
                <a:latin typeface="Malgun Gothic"/>
                <a:ea typeface="Malgun Gothic"/>
              </a:rPr>
              <a:t>결제 이력에 결제 시점의 planName, amount 스냅샷 컬럼 저장</a:t>
            </a:r>
          </a:p>
        </p:txBody>
      </p:sp>
      <p:sp>
        <p:nvSpPr>
          <p:cNvPr id="188" name="Shape 188"/>
          <p:cNvSpPr/>
          <p:nvPr/>
        </p:nvSpPr>
        <p:spPr>
          <a:xfrm>
            <a:off x="911483" y="3308748"/>
            <a:ext cx="10390909" cy="400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89" name="Text 189"/>
          <p:cNvSpPr txBox="1"/>
          <p:nvPr/>
        </p:nvSpPr>
        <p:spPr>
          <a:xfrm>
            <a:off x="1786507" y="3410780"/>
            <a:ext cx="58334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 b="1">
                <a:solidFill>
                  <a:srgbClr val="008868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3354258" y="3410780"/>
            <a:ext cx="656267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566680"/>
                </a:solidFill>
                <a:latin typeface="Malgun Gothic"/>
                <a:ea typeface="Malgun Gothic"/>
              </a:rPr>
              <a:t>플랜 변경 후 SQL 재조회로 당시 값 유지 확인</a:t>
            </a:r>
          </a:p>
        </p:txBody>
      </p:sp>
      <p:sp>
        <p:nvSpPr>
          <p:cNvPr id="191" name="Shape 191"/>
          <p:cNvSpPr/>
          <p:nvPr/>
        </p:nvSpPr>
        <p:spPr>
          <a:xfrm>
            <a:off x="692727" y="3971955"/>
            <a:ext cx="5250144" cy="22957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92" name="Shape 192"/>
          <p:cNvSpPr/>
          <p:nvPr/>
        </p:nvSpPr>
        <p:spPr>
          <a:xfrm>
            <a:off x="692727" y="3971955"/>
            <a:ext cx="5250144" cy="641343"/>
          </a:xfrm>
          <a:prstGeom prst="roundRect">
            <a:avLst/>
          </a:prstGeom>
          <a:solidFill>
            <a:srgbClr val="READY 상태만 처리하고 나머지는 조기 반환하는 멱등 처리"/>
          </a:solidFill>
          <a:ln>
            <a:noFill/>
          </a:ln>
        </p:spPr>
      </p:sp>
      <p:sp>
        <p:nvSpPr>
          <p:cNvPr id="193" name="Text 193"/>
          <p:cNvSpPr txBox="1"/>
          <p:nvPr/>
        </p:nvSpPr>
        <p:spPr>
          <a:xfrm>
            <a:off x="984402" y="4103139"/>
            <a:ext cx="87502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FFFFFF"/>
                </a:solidFill>
                <a:latin typeface="Malgun Gothic"/>
                <a:ea typeface="Malgun Gothic"/>
              </a:rPr>
              <a:t>Case 02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984402" y="4321779"/>
            <a:ext cx="4083445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</a:rPr>
              <a:t>PortOne 웹훅 반복 호출 대응</a:t>
            </a:r>
          </a:p>
        </p:txBody>
      </p:sp>
      <p:sp>
        <p:nvSpPr>
          <p:cNvPr id="195" name="Shape 195"/>
          <p:cNvSpPr/>
          <p:nvPr/>
        </p:nvSpPr>
        <p:spPr>
          <a:xfrm>
            <a:off x="911483" y="4810074"/>
            <a:ext cx="4812632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604211" y="4897530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B91C1C"/>
                </a:solidFill>
                <a:latin typeface="Malgun Gothic"/>
                <a:ea typeface="Malgun Gothic"/>
              </a:rPr>
              <a:t>문제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2406316" y="4897530"/>
            <a:ext cx="3062584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동일 merchantUid 웹훅 반복 호출 시 중복 처리 위험</a:t>
            </a:r>
          </a:p>
        </p:txBody>
      </p:sp>
      <p:sp>
        <p:nvSpPr>
          <p:cNvPr id="198" name="Shape 198"/>
          <p:cNvSpPr/>
          <p:nvPr/>
        </p:nvSpPr>
        <p:spPr>
          <a:xfrm>
            <a:off x="911483" y="5283794"/>
            <a:ext cx="4812632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199" name="Text 199"/>
          <p:cNvSpPr txBox="1"/>
          <p:nvPr/>
        </p:nvSpPr>
        <p:spPr>
          <a:xfrm>
            <a:off x="1604211" y="5371250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2464EB"/>
                </a:solidFill>
                <a:latin typeface="Malgun Gothic"/>
                <a:ea typeface="Malgun Gothic"/>
              </a:rPr>
              <a:t>해결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2406316" y="5371250"/>
            <a:ext cx="3062584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READY 상태만 처리하고 나머지는 조기 반환하는 멱등 처리</a:t>
            </a:r>
          </a:p>
        </p:txBody>
      </p:sp>
      <p:sp>
        <p:nvSpPr>
          <p:cNvPr id="201" name="Shape 201"/>
          <p:cNvSpPr/>
          <p:nvPr/>
        </p:nvSpPr>
        <p:spPr>
          <a:xfrm>
            <a:off x="911483" y="5757513"/>
            <a:ext cx="4812632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02" name="Text 202"/>
          <p:cNvSpPr txBox="1"/>
          <p:nvPr/>
        </p:nvSpPr>
        <p:spPr>
          <a:xfrm>
            <a:off x="1604211" y="5844969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08868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2406316" y="5844969"/>
            <a:ext cx="3062584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동일 웹훅 반복 호출 후 CANCELED 이력 1건 유지 확인</a:t>
            </a:r>
          </a:p>
        </p:txBody>
      </p:sp>
      <p:sp>
        <p:nvSpPr>
          <p:cNvPr id="204" name="Shape 204"/>
          <p:cNvSpPr/>
          <p:nvPr/>
        </p:nvSpPr>
        <p:spPr>
          <a:xfrm>
            <a:off x="6125167" y="3971955"/>
            <a:ext cx="5395981" cy="22957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05" name="Shape 205"/>
          <p:cNvSpPr/>
          <p:nvPr/>
        </p:nvSpPr>
        <p:spPr>
          <a:xfrm>
            <a:off x="6125167" y="3971955"/>
            <a:ext cx="5395981" cy="641343"/>
          </a:xfrm>
          <a:prstGeom prst="roundRect">
            <a:avLst/>
          </a:prstGeom>
          <a:solidFill>
            <a:srgbClr val="accessToken session id와 Redis auth:admin-session 비교, 충돌 시 409 및 forceLogin 처리"/>
          </a:solidFill>
          <a:ln>
            <a:noFill/>
          </a:ln>
        </p:spPr>
      </p:sp>
      <p:sp>
        <p:nvSpPr>
          <p:cNvPr id="206" name="Text 206"/>
          <p:cNvSpPr txBox="1"/>
          <p:nvPr/>
        </p:nvSpPr>
        <p:spPr>
          <a:xfrm>
            <a:off x="6416842" y="4103139"/>
            <a:ext cx="87502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300">
                <a:solidFill>
                  <a:srgbClr val="FFFFFF"/>
                </a:solidFill>
                <a:latin typeface="Malgun Gothic"/>
                <a:ea typeface="Malgun Gothic"/>
              </a:rPr>
              <a:t>Case 03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6416842" y="4321779"/>
            <a:ext cx="4083445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900" b="1">
                <a:solidFill>
                  <a:srgbClr val="FFFFFF"/>
                </a:solidFill>
                <a:latin typeface="Malgun Gothic"/>
                <a:ea typeface="Malgun Gothic"/>
              </a:rPr>
              <a:t>Redis 기반 관리자 단일 세션 정책</a:t>
            </a:r>
          </a:p>
        </p:txBody>
      </p:sp>
      <p:sp>
        <p:nvSpPr>
          <p:cNvPr id="208" name="Shape 208"/>
          <p:cNvSpPr/>
          <p:nvPr/>
        </p:nvSpPr>
        <p:spPr>
          <a:xfrm>
            <a:off x="6343923" y="4810074"/>
            <a:ext cx="4958469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09" name="Text 209"/>
          <p:cNvSpPr txBox="1"/>
          <p:nvPr/>
        </p:nvSpPr>
        <p:spPr>
          <a:xfrm>
            <a:off x="7036651" y="4897530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B91C1C"/>
                </a:solidFill>
                <a:latin typeface="Malgun Gothic"/>
                <a:ea typeface="Malgun Gothic"/>
              </a:rPr>
              <a:t>문제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7838756" y="4897530"/>
            <a:ext cx="320842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관리자 다중 브라우저 로그인 시 운영 리스크</a:t>
            </a:r>
          </a:p>
        </p:txBody>
      </p:sp>
      <p:sp>
        <p:nvSpPr>
          <p:cNvPr id="211" name="Shape 211"/>
          <p:cNvSpPr/>
          <p:nvPr/>
        </p:nvSpPr>
        <p:spPr>
          <a:xfrm>
            <a:off x="6343923" y="5283794"/>
            <a:ext cx="4958469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12" name="Text 212"/>
          <p:cNvSpPr txBox="1"/>
          <p:nvPr/>
        </p:nvSpPr>
        <p:spPr>
          <a:xfrm>
            <a:off x="7036651" y="5371250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2464EB"/>
                </a:solidFill>
                <a:latin typeface="Malgun Gothic"/>
                <a:ea typeface="Malgun Gothic"/>
              </a:rPr>
              <a:t>해결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7838756" y="5371250"/>
            <a:ext cx="320842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accessToken session id와 Redis auth:admin-session 비교, 충돌 시 409 및 forceLogin 처리</a:t>
            </a:r>
          </a:p>
        </p:txBody>
      </p:sp>
      <p:sp>
        <p:nvSpPr>
          <p:cNvPr id="214" name="Shape 214"/>
          <p:cNvSpPr/>
          <p:nvPr/>
        </p:nvSpPr>
        <p:spPr>
          <a:xfrm>
            <a:off x="6343923" y="5757513"/>
            <a:ext cx="4958469" cy="3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15" name="Text 215"/>
          <p:cNvSpPr txBox="1"/>
          <p:nvPr/>
        </p:nvSpPr>
        <p:spPr>
          <a:xfrm>
            <a:off x="7036651" y="5844969"/>
            <a:ext cx="51043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008868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7838756" y="5844969"/>
            <a:ext cx="3208421" cy="1603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다른 브라우저 로그인 시 409 충돌 응답 및 세션 교체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김병규 Backend Engineer Portfolio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0427368" y="255080"/>
            <a:ext cx="131253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Univ-US · QA Evidence 06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02105" y="670495"/>
            <a:ext cx="4083445" cy="42270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100" b="1">
                <a:solidFill>
                  <a:srgbClr val="0F1D37"/>
                </a:solidFill>
                <a:latin typeface="Malgun Gothic"/>
                <a:ea typeface="Malgun Gothic"/>
              </a:rPr>
              <a:t>검증 및 운영 관점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802105" y="1129639"/>
            <a:ext cx="5687656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566680"/>
                </a:solidFill>
                <a:latin typeface="Malgun Gothic"/>
                <a:ea typeface="Malgun Gothic"/>
              </a:rPr>
              <a:t>구현 결과를 SQL 조회, 반복 호출, Redis 충돌 재현으로 확인</a:t>
            </a:r>
          </a:p>
        </p:txBody>
      </p:sp>
      <p:sp>
        <p:nvSpPr>
          <p:cNvPr id="222" name="Shape 222"/>
          <p:cNvSpPr/>
          <p:nvPr/>
        </p:nvSpPr>
        <p:spPr>
          <a:xfrm>
            <a:off x="802105" y="1603358"/>
            <a:ext cx="10573206" cy="32795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23" name="Shape 223"/>
          <p:cNvSpPr/>
          <p:nvPr/>
        </p:nvSpPr>
        <p:spPr>
          <a:xfrm>
            <a:off x="802105" y="1603358"/>
            <a:ext cx="10573206" cy="422704"/>
          </a:xfrm>
          <a:prstGeom prst="roundRect">
            <a:avLst/>
          </a:prstGeom>
          <a:solidFill>
            <a:srgbClr val="061833"/>
          </a:solidFill>
          <a:ln>
            <a:noFill/>
          </a:ln>
        </p:spPr>
      </p:sp>
      <p:sp>
        <p:nvSpPr>
          <p:cNvPr id="224" name="Text 224"/>
          <p:cNvSpPr txBox="1"/>
          <p:nvPr/>
        </p:nvSpPr>
        <p:spPr>
          <a:xfrm>
            <a:off x="1166699" y="1734542"/>
            <a:ext cx="167712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검증 항목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3135502" y="1734542"/>
            <a:ext cx="167712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재현 조건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5687656" y="1734542"/>
            <a:ext cx="167712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확인 방법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8604402" y="1734542"/>
            <a:ext cx="1677129" cy="182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기대 결과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1166699" y="2186397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결제 준비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3135502" y="2186397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동일 계정에서 prepare 재시도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5687656" y="2186397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Swagger/API로 prepare 호출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8604402" y="2186397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새 PENDING/READY 생성, 중복 방지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1166699" y="2609101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결제 검증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3135502" y="2609101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PortOne 결제 이후 verify 호출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5687656" y="2609101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Swagger/API로 verify 호출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8604402" y="2609101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PAID/ACTIVE 상태 전환 및 거래 정보 저장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1166699" y="3031804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웹훅 멱등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3135502" y="3031804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동일 merchantUid 웹훅 반복 호출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5687656" y="3031804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동일 payload 재전송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8604402" y="3031804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중복 처리 없이 1회 반영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1166699" y="3454508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상태 보호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3135502" y="3454508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PAID/ACTIVE 또는 이미 CANCELED된 건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5687656" y="3454508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취소 API 또는 검증 API 호출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8604402" y="3454508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결제 상태 변경 안 됨, CANCEL 거부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1166699" y="3877211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실패 처리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3135502" y="3877211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FAILED, PENDING 조합 케이스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5687656" y="3877211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검증 실패/취소 요청 시나리오 재현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8604402" y="3877211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내부 이력 상태만 CANCELED 처리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1166699" y="4299915"/>
            <a:ext cx="1677129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 b="1">
                <a:solidFill>
                  <a:srgbClr val="0F1D37"/>
                </a:solidFill>
                <a:latin typeface="Malgun Gothic"/>
                <a:ea typeface="Malgun Gothic"/>
              </a:rPr>
              <a:t>관리자 세션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3135502" y="4299915"/>
            <a:ext cx="2187560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다중 브라우저에서 동일 관리자 로그인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5687656" y="4299915"/>
            <a:ext cx="2552153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Redis session id 비교 및 forceLogin 발생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8604402" y="4299915"/>
            <a:ext cx="2406316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이전 세션 종료, 새 세션만 유지</a:t>
            </a:r>
          </a:p>
        </p:txBody>
      </p:sp>
      <p:sp>
        <p:nvSpPr>
          <p:cNvPr id="252" name="Shape 252"/>
          <p:cNvSpPr/>
          <p:nvPr/>
        </p:nvSpPr>
        <p:spPr>
          <a:xfrm>
            <a:off x="802105" y="5138034"/>
            <a:ext cx="3317799" cy="910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53" name="Text 253"/>
          <p:cNvSpPr txBox="1"/>
          <p:nvPr/>
        </p:nvSpPr>
        <p:spPr>
          <a:xfrm>
            <a:off x="1895885" y="5378538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SQL 검증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1895885" y="5684633"/>
            <a:ext cx="1822967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결제 이력, 상태 값, 스냅샷 컬럼 재조회</a:t>
            </a:r>
          </a:p>
        </p:txBody>
      </p:sp>
      <p:sp>
        <p:nvSpPr>
          <p:cNvPr id="255" name="Shape 255"/>
          <p:cNvSpPr/>
          <p:nvPr/>
        </p:nvSpPr>
        <p:spPr>
          <a:xfrm>
            <a:off x="4448038" y="5138034"/>
            <a:ext cx="3317799" cy="910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56" name="Text 256"/>
          <p:cNvSpPr txBox="1"/>
          <p:nvPr/>
        </p:nvSpPr>
        <p:spPr>
          <a:xfrm>
            <a:off x="5541818" y="5378538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Swagger 반복 호출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5541818" y="5684633"/>
            <a:ext cx="1822967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웹훅/취소/검증 API 재현</a:t>
            </a:r>
          </a:p>
        </p:txBody>
      </p:sp>
      <p:sp>
        <p:nvSpPr>
          <p:cNvPr id="258" name="Shape 258"/>
          <p:cNvSpPr/>
          <p:nvPr/>
        </p:nvSpPr>
        <p:spPr>
          <a:xfrm>
            <a:off x="8093971" y="5138034"/>
            <a:ext cx="3317799" cy="910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59" name="Text 259"/>
          <p:cNvSpPr txBox="1"/>
          <p:nvPr/>
        </p:nvSpPr>
        <p:spPr>
          <a:xfrm>
            <a:off x="9187751" y="5378538"/>
            <a:ext cx="1750048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Redis 세션 충돌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9187751" y="5684633"/>
            <a:ext cx="1822967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관리자 중복 로그인과 forceLogin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62" name="Text 262"/>
          <p:cNvSpPr txBox="1"/>
          <p:nvPr/>
        </p:nvSpPr>
        <p:spPr>
          <a:xfrm>
            <a:off x="510431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71829A"/>
                </a:solidFill>
                <a:latin typeface="Malgun Gothic"/>
                <a:ea typeface="Malgun Gothic"/>
              </a:rPr>
              <a:t>김병규 Backend Engineer Portfolio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10791962" y="255080"/>
            <a:ext cx="87502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Project 2 · GRIP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802105" y="655919"/>
            <a:ext cx="4520957" cy="43727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0F1D37"/>
                </a:solidFill>
                <a:latin typeface="Malgun Gothic"/>
                <a:ea typeface="Malgun Gothic"/>
              </a:rPr>
              <a:t>Project 2. GRIP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802105" y="1129639"/>
            <a:ext cx="4520957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566680"/>
                </a:solidFill>
                <a:latin typeface="Malgun Gothic"/>
                <a:ea typeface="Malgun Gothic"/>
              </a:rPr>
              <a:t>클라이밍장 지도 기반 정보 · 커뮤니티 서비스</a:t>
            </a:r>
          </a:p>
        </p:txBody>
      </p:sp>
      <p:sp>
        <p:nvSpPr>
          <p:cNvPr id="266" name="Shape 266"/>
          <p:cNvSpPr/>
          <p:nvPr/>
        </p:nvSpPr>
        <p:spPr>
          <a:xfrm>
            <a:off x="583349" y="1421158"/>
            <a:ext cx="10974258" cy="1078623"/>
          </a:xfrm>
          <a:prstGeom prst="roundRect">
            <a:avLst/>
          </a:prstGeom>
          <a:solidFill>
            <a:srgbClr val="061833"/>
          </a:solidFill>
          <a:ln>
            <a:noFill/>
          </a:ln>
        </p:spPr>
      </p:sp>
      <p:sp>
        <p:nvSpPr>
          <p:cNvPr id="267" name="Text 267"/>
          <p:cNvSpPr txBox="1"/>
          <p:nvPr/>
        </p:nvSpPr>
        <p:spPr>
          <a:xfrm>
            <a:off x="875024" y="1712678"/>
            <a:ext cx="1750048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500" b="1">
                <a:solidFill>
                  <a:srgbClr val="FFFFFF"/>
                </a:solidFill>
                <a:latin typeface="Malgun Gothic"/>
                <a:ea typeface="Malgun Gothic"/>
              </a:rPr>
              <a:t>GRIP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875024" y="2113518"/>
            <a:ext cx="2625072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2024.07 - 2024.09 · 4인 팀 · Backend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265742" y="1749118"/>
            <a:ext cx="6125167" cy="47371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DDE8F8"/>
                </a:solidFill>
                <a:latin typeface="Malgun Gothic"/>
                <a:ea typeface="Malgun Gothic"/>
              </a:rPr>
              <a:t>서울 클라이밍장 약 100곳을 지도 기반으로 제공하고, 게시글/댓글/좋아요/통합 검색 등 사용자 상호작용을 지원한 서비스입니다.</a:t>
            </a:r>
          </a:p>
        </p:txBody>
      </p:sp>
      <p:sp>
        <p:nvSpPr>
          <p:cNvPr id="270" name="Shape 270"/>
          <p:cNvSpPr/>
          <p:nvPr/>
        </p:nvSpPr>
        <p:spPr>
          <a:xfrm>
            <a:off x="583349" y="2696557"/>
            <a:ext cx="3463636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71" name="Text 271"/>
          <p:cNvSpPr txBox="1"/>
          <p:nvPr/>
        </p:nvSpPr>
        <p:spPr>
          <a:xfrm>
            <a:off x="1677129" y="2951637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지도 조회 API</a:t>
            </a:r>
          </a:p>
        </p:txBody>
      </p:sp>
      <p:sp>
        <p:nvSpPr>
          <p:cNvPr id="272" name="Text 272"/>
          <p:cNvSpPr txBox="1"/>
          <p:nvPr/>
        </p:nvSpPr>
        <p:spPr>
          <a:xfrm>
            <a:off x="1677129" y="3243156"/>
            <a:ext cx="2041722" cy="36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Naver Maps / 지역검색 API 연동, 마커와 상세 이동 흐름 구현</a:t>
            </a:r>
          </a:p>
        </p:txBody>
      </p:sp>
      <p:sp>
        <p:nvSpPr>
          <p:cNvPr id="273" name="Shape 273"/>
          <p:cNvSpPr/>
          <p:nvPr/>
        </p:nvSpPr>
        <p:spPr>
          <a:xfrm>
            <a:off x="4302201" y="2696557"/>
            <a:ext cx="3463636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74" name="Text 274"/>
          <p:cNvSpPr txBox="1"/>
          <p:nvPr/>
        </p:nvSpPr>
        <p:spPr>
          <a:xfrm>
            <a:off x="5395981" y="2951637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혼잡도 연동</a:t>
            </a:r>
          </a:p>
        </p:txBody>
      </p:sp>
      <p:sp>
        <p:nvSpPr>
          <p:cNvPr id="275" name="Text 275"/>
          <p:cNvSpPr txBox="1"/>
          <p:nvPr/>
        </p:nvSpPr>
        <p:spPr>
          <a:xfrm>
            <a:off x="5395981" y="3243156"/>
            <a:ext cx="2041722" cy="36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마커 정보창과 상세 페이지에 시간대별 혼잡도 정보 표시</a:t>
            </a:r>
          </a:p>
        </p:txBody>
      </p:sp>
      <p:sp>
        <p:nvSpPr>
          <p:cNvPr id="276" name="Shape 276"/>
          <p:cNvSpPr/>
          <p:nvPr/>
        </p:nvSpPr>
        <p:spPr>
          <a:xfrm>
            <a:off x="8021053" y="2696557"/>
            <a:ext cx="3463636" cy="10567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77" name="Text 277"/>
          <p:cNvSpPr txBox="1"/>
          <p:nvPr/>
        </p:nvSpPr>
        <p:spPr>
          <a:xfrm>
            <a:off x="9114833" y="2951637"/>
            <a:ext cx="1895885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700" b="1">
                <a:solidFill>
                  <a:srgbClr val="0F1D37"/>
                </a:solidFill>
                <a:latin typeface="Malgun Gothic"/>
                <a:ea typeface="Malgun Gothic"/>
              </a:rPr>
              <a:t>좋아요 토글</a:t>
            </a:r>
          </a:p>
        </p:txBody>
      </p:sp>
      <p:sp>
        <p:nvSpPr>
          <p:cNvPr id="278" name="Text 278"/>
          <p:cNvSpPr txBox="1"/>
          <p:nvPr/>
        </p:nvSpPr>
        <p:spPr>
          <a:xfrm>
            <a:off x="9114833" y="3243156"/>
            <a:ext cx="2041722" cy="36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userId + postId 기준 중복 등록 방지, 비동기 반영</a:t>
            </a:r>
          </a:p>
        </p:txBody>
      </p:sp>
      <p:sp>
        <p:nvSpPr>
          <p:cNvPr id="279" name="Shape 279"/>
          <p:cNvSpPr/>
          <p:nvPr/>
        </p:nvSpPr>
        <p:spPr>
          <a:xfrm>
            <a:off x="583349" y="3935515"/>
            <a:ext cx="10974258" cy="9474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80" name="Text 280"/>
          <p:cNvSpPr txBox="1"/>
          <p:nvPr/>
        </p:nvSpPr>
        <p:spPr>
          <a:xfrm>
            <a:off x="838565" y="4190595"/>
            <a:ext cx="105732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Search API</a:t>
            </a:r>
          </a:p>
        </p:txBody>
      </p:sp>
      <p:sp>
        <p:nvSpPr>
          <p:cNvPr id="281" name="Text 281"/>
          <p:cNvSpPr txBox="1"/>
          <p:nvPr/>
        </p:nvSpPr>
        <p:spPr>
          <a:xfrm>
            <a:off x="838565" y="4445675"/>
            <a:ext cx="1057321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클라이밍장 수집</a:t>
            </a:r>
          </a:p>
        </p:txBody>
      </p:sp>
      <p:sp>
        <p:nvSpPr>
          <p:cNvPr id="282" name="Text 282"/>
          <p:cNvSpPr txBox="1"/>
          <p:nvPr/>
        </p:nvSpPr>
        <p:spPr>
          <a:xfrm>
            <a:off x="2041722" y="4299915"/>
            <a:ext cx="29167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0886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83" name="Text 283"/>
          <p:cNvSpPr txBox="1"/>
          <p:nvPr/>
        </p:nvSpPr>
        <p:spPr>
          <a:xfrm>
            <a:off x="2989665" y="4190595"/>
            <a:ext cx="105732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DB/API</a:t>
            </a:r>
          </a:p>
        </p:txBody>
      </p:sp>
      <p:sp>
        <p:nvSpPr>
          <p:cNvPr id="284" name="Text 284"/>
          <p:cNvSpPr txBox="1"/>
          <p:nvPr/>
        </p:nvSpPr>
        <p:spPr>
          <a:xfrm>
            <a:off x="2989665" y="4445675"/>
            <a:ext cx="1057321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지도 데이터 제공</a:t>
            </a:r>
          </a:p>
        </p:txBody>
      </p:sp>
      <p:sp>
        <p:nvSpPr>
          <p:cNvPr id="285" name="Text 285"/>
          <p:cNvSpPr txBox="1"/>
          <p:nvPr/>
        </p:nvSpPr>
        <p:spPr>
          <a:xfrm>
            <a:off x="4192823" y="4299915"/>
            <a:ext cx="29167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0886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86" name="Text 286"/>
          <p:cNvSpPr txBox="1"/>
          <p:nvPr/>
        </p:nvSpPr>
        <p:spPr>
          <a:xfrm>
            <a:off x="5140766" y="4190595"/>
            <a:ext cx="105732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Naver Map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5140766" y="4445675"/>
            <a:ext cx="1057321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마커·정보창</a:t>
            </a:r>
          </a:p>
        </p:txBody>
      </p:sp>
      <p:sp>
        <p:nvSpPr>
          <p:cNvPr id="288" name="Text 288"/>
          <p:cNvSpPr txBox="1"/>
          <p:nvPr/>
        </p:nvSpPr>
        <p:spPr>
          <a:xfrm>
            <a:off x="6343923" y="4299915"/>
            <a:ext cx="29167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0886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89" name="Text 289"/>
          <p:cNvSpPr txBox="1"/>
          <p:nvPr/>
        </p:nvSpPr>
        <p:spPr>
          <a:xfrm>
            <a:off x="7291866" y="4190595"/>
            <a:ext cx="105732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Crowding</a:t>
            </a:r>
          </a:p>
        </p:txBody>
      </p:sp>
      <p:sp>
        <p:nvSpPr>
          <p:cNvPr id="290" name="Text 290"/>
          <p:cNvSpPr txBox="1"/>
          <p:nvPr/>
        </p:nvSpPr>
        <p:spPr>
          <a:xfrm>
            <a:off x="7291866" y="4445675"/>
            <a:ext cx="1057321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시간대별 혼잡도</a:t>
            </a:r>
          </a:p>
        </p:txBody>
      </p:sp>
      <p:sp>
        <p:nvSpPr>
          <p:cNvPr id="291" name="Text 291"/>
          <p:cNvSpPr txBox="1"/>
          <p:nvPr/>
        </p:nvSpPr>
        <p:spPr>
          <a:xfrm>
            <a:off x="8495024" y="4299915"/>
            <a:ext cx="29167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0886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92" name="Text 292"/>
          <p:cNvSpPr txBox="1"/>
          <p:nvPr/>
        </p:nvSpPr>
        <p:spPr>
          <a:xfrm>
            <a:off x="9442967" y="4190595"/>
            <a:ext cx="105732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200" b="1">
                <a:solidFill>
                  <a:srgbClr val="0F1D37"/>
                </a:solidFill>
                <a:latin typeface="Malgun Gothic"/>
                <a:ea typeface="Malgun Gothic"/>
              </a:rPr>
              <a:t>Detail</a:t>
            </a:r>
          </a:p>
        </p:txBody>
      </p:sp>
      <p:sp>
        <p:nvSpPr>
          <p:cNvPr id="293" name="Text 293"/>
          <p:cNvSpPr txBox="1"/>
          <p:nvPr/>
        </p:nvSpPr>
        <p:spPr>
          <a:xfrm>
            <a:off x="9442967" y="4445675"/>
            <a:ext cx="1057321" cy="29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상세/게시글 연결</a:t>
            </a:r>
          </a:p>
        </p:txBody>
      </p:sp>
      <p:sp>
        <p:nvSpPr>
          <p:cNvPr id="294" name="Text 294"/>
          <p:cNvSpPr txBox="1"/>
          <p:nvPr/>
        </p:nvSpPr>
        <p:spPr>
          <a:xfrm>
            <a:off x="10646124" y="4299915"/>
            <a:ext cx="29167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0886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95" name="Shape 295"/>
          <p:cNvSpPr/>
          <p:nvPr/>
        </p:nvSpPr>
        <p:spPr>
          <a:xfrm>
            <a:off x="583349" y="5065154"/>
            <a:ext cx="10974258" cy="9474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296" name="Text 296"/>
          <p:cNvSpPr txBox="1"/>
          <p:nvPr/>
        </p:nvSpPr>
        <p:spPr>
          <a:xfrm>
            <a:off x="1312536" y="5356674"/>
            <a:ext cx="1312536" cy="262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F1D37"/>
                </a:solidFill>
                <a:latin typeface="Malgun Gothic"/>
                <a:ea typeface="Malgun Gothic"/>
              </a:rPr>
              <a:t>트러블슈팅</a:t>
            </a:r>
          </a:p>
        </p:txBody>
      </p:sp>
      <p:sp>
        <p:nvSpPr>
          <p:cNvPr id="297" name="Text 297"/>
          <p:cNvSpPr txBox="1"/>
          <p:nvPr/>
        </p:nvSpPr>
        <p:spPr>
          <a:xfrm>
            <a:off x="2989665" y="5247354"/>
            <a:ext cx="3208421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 b="1">
                <a:solidFill>
                  <a:srgbClr val="2464EB"/>
                </a:solidFill>
                <a:latin typeface="Malgun Gothic"/>
                <a:ea typeface="Malgun Gothic"/>
              </a:rPr>
              <a:t>01 좋아요 중복 등록 방지</a:t>
            </a:r>
          </a:p>
        </p:txBody>
      </p:sp>
      <p:sp>
        <p:nvSpPr>
          <p:cNvPr id="298" name="Text 298"/>
          <p:cNvSpPr txBox="1"/>
          <p:nvPr/>
        </p:nvSpPr>
        <p:spPr>
          <a:xfrm>
            <a:off x="2989665" y="5502434"/>
            <a:ext cx="3281340" cy="3352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기존 좋아요 조회 후 생성/취소를 분기하는 토글 방식을 적용하고 반복 클릭 시 상태 일관성을 검증했습니다.</a:t>
            </a:r>
          </a:p>
        </p:txBody>
      </p:sp>
      <p:sp>
        <p:nvSpPr>
          <p:cNvPr id="299" name="Text 299"/>
          <p:cNvSpPr txBox="1"/>
          <p:nvPr/>
        </p:nvSpPr>
        <p:spPr>
          <a:xfrm>
            <a:off x="7000191" y="5247354"/>
            <a:ext cx="3135502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 b="1">
                <a:solidFill>
                  <a:srgbClr val="008868"/>
                </a:solidFill>
                <a:latin typeface="Malgun Gothic"/>
                <a:ea typeface="Malgun Gothic"/>
              </a:rPr>
              <a:t>02 지도 조회와 혼잡도 연동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7000191" y="5502434"/>
            <a:ext cx="3427177" cy="3352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000">
                <a:solidFill>
                  <a:srgbClr val="566680"/>
                </a:solidFill>
                <a:latin typeface="Malgun Gothic"/>
                <a:ea typeface="Malgun Gothic"/>
              </a:rPr>
              <a:t>목록 조회와 마커 클릭 흐름을 분리하고, 혼잡도 API 호출 결과를 정보창과 상세 페이지에 반영했습니다.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02" name="Text 302"/>
          <p:cNvSpPr txBox="1"/>
          <p:nvPr/>
        </p:nvSpPr>
        <p:spPr>
          <a:xfrm>
            <a:off x="656268" y="255080"/>
            <a:ext cx="3062584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BACKEND ENGINEER PORTFOLIO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10573206" y="255080"/>
            <a:ext cx="1020861" cy="18948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100">
                <a:solidFill>
                  <a:srgbClr val="566680"/>
                </a:solidFill>
                <a:latin typeface="Malgun Gothic"/>
                <a:ea typeface="Malgun Gothic"/>
              </a:rPr>
              <a:t>Portfolio Link 08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1020861" y="838119"/>
            <a:ext cx="5541818" cy="43727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3600" b="1">
                <a:solidFill>
                  <a:srgbClr val="0F1D37"/>
                </a:solidFill>
                <a:latin typeface="Malgun Gothic"/>
                <a:ea typeface="Malgun Gothic"/>
              </a:rPr>
              <a:t>포트폴리오 확인 포인트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1020861" y="1384718"/>
            <a:ext cx="9187751" cy="255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800">
                <a:solidFill>
                  <a:srgbClr val="566680"/>
                </a:solidFill>
                <a:latin typeface="Malgun Gothic"/>
                <a:ea typeface="Malgun Gothic"/>
              </a:rPr>
              <a:t>온라인 포트폴리오에서 프로젝트 상세와 트러블슈팅 과정을 더 자세히 확인할 수 있습니다.</a:t>
            </a:r>
          </a:p>
        </p:txBody>
      </p:sp>
      <p:sp>
        <p:nvSpPr>
          <p:cNvPr id="306" name="Shape 306"/>
          <p:cNvSpPr/>
          <p:nvPr/>
        </p:nvSpPr>
        <p:spPr>
          <a:xfrm>
            <a:off x="875024" y="1661662"/>
            <a:ext cx="10427368" cy="21280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F"/>
            </a:solidFill>
          </a:ln>
        </p:spPr>
      </p:sp>
      <p:sp>
        <p:nvSpPr>
          <p:cNvPr id="307" name="Shape 307"/>
          <p:cNvSpPr/>
          <p:nvPr/>
        </p:nvSpPr>
        <p:spPr>
          <a:xfrm>
            <a:off x="1203158" y="2004198"/>
            <a:ext cx="685435" cy="685071"/>
          </a:xfrm>
          <a:prstGeom prst="roundRect">
            <a:avLst/>
          </a:prstGeom>
          <a:solidFill>
            <a:srgbClr val="E5FAF5"/>
          </a:solidFill>
          <a:ln>
            <a:noFill/>
          </a:ln>
        </p:spPr>
      </p:sp>
      <p:sp>
        <p:nvSpPr>
          <p:cNvPr id="308" name="Text 308"/>
          <p:cNvSpPr txBox="1"/>
          <p:nvPr/>
        </p:nvSpPr>
        <p:spPr>
          <a:xfrm>
            <a:off x="1341703" y="2222837"/>
            <a:ext cx="437512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 b="1">
                <a:solidFill>
                  <a:srgbClr val="008868"/>
                </a:solidFill>
                <a:latin typeface="Malgun Gothic"/>
                <a:ea typeface="Malgun Gothic"/>
              </a:rPr>
              <a:t>WEB</a:t>
            </a:r>
          </a:p>
        </p:txBody>
      </p:sp>
      <p:sp>
        <p:nvSpPr>
          <p:cNvPr id="309" name="Text 309"/>
          <p:cNvSpPr txBox="1"/>
          <p:nvPr/>
        </p:nvSpPr>
        <p:spPr>
          <a:xfrm>
            <a:off x="2224019" y="2004198"/>
            <a:ext cx="5541818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100" b="1">
                <a:solidFill>
                  <a:srgbClr val="0F1D37"/>
                </a:solidFill>
                <a:latin typeface="Malgun Gothic"/>
                <a:ea typeface="Malgun Gothic"/>
              </a:rPr>
              <a:t>온라인 포트폴리오에서 더 자세히 볼 수 있는 내용</a:t>
            </a:r>
          </a:p>
        </p:txBody>
      </p:sp>
      <p:cxnSp>
        <p:nvCxnSpPr>
          <p:cNvPr id="310" name="Line 310"/>
          <p:cNvCxnSpPr/>
          <p:nvPr/>
        </p:nvCxnSpPr>
        <p:spPr>
          <a:xfrm>
            <a:off x="2224019" y="2368597"/>
            <a:ext cx="8422105" cy="0"/>
          </a:xfrm>
          <a:prstGeom prst="line">
            <a:avLst/>
          </a:prstGeom>
          <a:ln w="19050">
            <a:solidFill>
              <a:srgbClr val="D5E0EF"/>
            </a:solidFill>
          </a:ln>
        </p:spPr>
      </p:cxnSp>
      <p:sp>
        <p:nvSpPr>
          <p:cNvPr id="311" name="Shape 311"/>
          <p:cNvSpPr/>
          <p:nvPr/>
        </p:nvSpPr>
        <p:spPr>
          <a:xfrm>
            <a:off x="2224019" y="2609101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12" name="Text 312"/>
          <p:cNvSpPr txBox="1"/>
          <p:nvPr/>
        </p:nvSpPr>
        <p:spPr>
          <a:xfrm>
            <a:off x="2428191" y="2550797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프로젝트별 상세 역할과 구현 화면</a:t>
            </a:r>
          </a:p>
        </p:txBody>
      </p:sp>
      <p:sp>
        <p:nvSpPr>
          <p:cNvPr id="313" name="Shape 313"/>
          <p:cNvSpPr/>
          <p:nvPr/>
        </p:nvSpPr>
        <p:spPr>
          <a:xfrm>
            <a:off x="2224019" y="2886045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14" name="Text 314"/>
          <p:cNvSpPr txBox="1"/>
          <p:nvPr/>
        </p:nvSpPr>
        <p:spPr>
          <a:xfrm>
            <a:off x="2428191" y="2827741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트러블슈팅 원인·해결·검증 과정</a:t>
            </a:r>
          </a:p>
        </p:txBody>
      </p:sp>
      <p:sp>
        <p:nvSpPr>
          <p:cNvPr id="315" name="Shape 315"/>
          <p:cNvSpPr/>
          <p:nvPr/>
        </p:nvSpPr>
        <p:spPr>
          <a:xfrm>
            <a:off x="2224019" y="3162988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16" name="Text 316"/>
          <p:cNvSpPr txBox="1"/>
          <p:nvPr/>
        </p:nvSpPr>
        <p:spPr>
          <a:xfrm>
            <a:off x="2428191" y="3104684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시스템 / AWS 구성도와 시퀀스 다이어그램</a:t>
            </a:r>
          </a:p>
        </p:txBody>
      </p:sp>
      <p:sp>
        <p:nvSpPr>
          <p:cNvPr id="317" name="Shape 317"/>
          <p:cNvSpPr/>
          <p:nvPr/>
        </p:nvSpPr>
        <p:spPr>
          <a:xfrm>
            <a:off x="6599139" y="2609101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18" name="Text 318"/>
          <p:cNvSpPr txBox="1"/>
          <p:nvPr/>
        </p:nvSpPr>
        <p:spPr>
          <a:xfrm>
            <a:off x="6803311" y="2550797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결제·세션·웹훅 검증 이미지</a:t>
            </a:r>
          </a:p>
        </p:txBody>
      </p:sp>
      <p:sp>
        <p:nvSpPr>
          <p:cNvPr id="319" name="Shape 319"/>
          <p:cNvSpPr/>
          <p:nvPr/>
        </p:nvSpPr>
        <p:spPr>
          <a:xfrm>
            <a:off x="6599139" y="2886045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20" name="Text 320"/>
          <p:cNvSpPr txBox="1"/>
          <p:nvPr/>
        </p:nvSpPr>
        <p:spPr>
          <a:xfrm>
            <a:off x="6803311" y="2827741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GitHub 저장소와 코드 흐름</a:t>
            </a:r>
          </a:p>
        </p:txBody>
      </p:sp>
      <p:sp>
        <p:nvSpPr>
          <p:cNvPr id="321" name="Shape 321"/>
          <p:cNvSpPr/>
          <p:nvPr/>
        </p:nvSpPr>
        <p:spPr>
          <a:xfrm>
            <a:off x="6599139" y="3162988"/>
            <a:ext cx="58335" cy="58304"/>
          </a:xfrm>
          <a:prstGeom prst="roundRect">
            <a:avLst/>
          </a:prstGeom>
          <a:solidFill>
            <a:srgbClr val="008868"/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6803311" y="3104684"/>
            <a:ext cx="3791770" cy="2477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4F5E79"/>
                </a:solidFill>
                <a:latin typeface="Malgun Gothic"/>
                <a:ea typeface="Malgun Gothic"/>
              </a:rPr>
              <a:t>Univ-US / GRIP 프로젝트 상세 설명</a:t>
            </a:r>
          </a:p>
        </p:txBody>
      </p:sp>
      <p:sp>
        <p:nvSpPr>
          <p:cNvPr id="323" name="Shape 323"/>
          <p:cNvSpPr/>
          <p:nvPr/>
        </p:nvSpPr>
        <p:spPr>
          <a:xfrm>
            <a:off x="875024" y="3993819"/>
            <a:ext cx="10427368" cy="1676238"/>
          </a:xfrm>
          <a:prstGeom prst="roundRect">
            <a:avLst/>
          </a:prstGeom>
          <a:solidFill>
            <a:srgbClr val="11203D"/>
          </a:solidFill>
          <a:ln w="12700">
            <a:solidFill>
              <a:srgbClr val="588BD9"/>
            </a:solidFill>
          </a:ln>
        </p:spPr>
      </p:sp>
      <p:sp>
        <p:nvSpPr>
          <p:cNvPr id="324" name="Text 324"/>
          <p:cNvSpPr txBox="1"/>
          <p:nvPr/>
        </p:nvSpPr>
        <p:spPr>
          <a:xfrm>
            <a:off x="1385455" y="4299915"/>
            <a:ext cx="2187560" cy="327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2500" b="1">
                <a:solidFill>
                  <a:srgbClr val="FFFFFF"/>
                </a:solidFill>
                <a:latin typeface="Malgun Gothic"/>
                <a:ea typeface="Malgun Gothic"/>
              </a:rPr>
              <a:t>Portfolio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385455" y="4700755"/>
            <a:ext cx="4083445" cy="21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500">
                <a:solidFill>
                  <a:srgbClr val="5BA0FF"/>
                </a:solidFill>
                <a:latin typeface="Malgun Gothic"/>
                <a:ea typeface="Malgun Gothic"/>
              </a:rPr>
              <a:t>https://kbg-dev-portfolio.vercel.app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1385455" y="5065154"/>
            <a:ext cx="61980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GitHub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2041722" y="5065154"/>
            <a:ext cx="2187560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github.com/Kim-ByeongGyu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1385455" y="5393114"/>
            <a:ext cx="619809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Email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2041722" y="5393114"/>
            <a:ext cx="2187560" cy="1749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200">
                <a:solidFill>
                  <a:srgbClr val="DDE8F8"/>
                </a:solidFill>
                <a:latin typeface="Malgun Gothic"/>
                <a:ea typeface="Malgun Gothic"/>
              </a:rPr>
              <a:t>zenk5554785@gmail.com</a:t>
            </a:r>
          </a:p>
        </p:txBody>
      </p:sp>
      <p:pic>
        <p:nvPicPr>
          <p:cNvPr id="330" name="Q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435" y="4263475"/>
            <a:ext cx="962526" cy="962015"/>
          </a:xfrm>
          <a:prstGeom prst="rect">
            <a:avLst/>
          </a:prstGeom>
        </p:spPr>
      </p:pic>
      <p:sp>
        <p:nvSpPr>
          <p:cNvPr id="331" name="Text 331"/>
          <p:cNvSpPr txBox="1"/>
          <p:nvPr/>
        </p:nvSpPr>
        <p:spPr>
          <a:xfrm>
            <a:off x="9916938" y="5283794"/>
            <a:ext cx="1093780" cy="20406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ko-KR" sz="1400">
                <a:solidFill>
                  <a:srgbClr val="DDE8F8"/>
                </a:solidFill>
                <a:latin typeface="Malgun Gothic"/>
                <a:ea typeface="Malgun Gothic"/>
              </a:rPr>
              <a:t>Portfolio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0F1D37"/>
      </a:dk1>
      <a:lt1>
        <a:srgbClr val="FFFFFF"/>
      </a:lt1>
      <a:dk2>
        <a:srgbClr val="1F2937"/>
      </a:dk2>
      <a:lt2>
        <a:srgbClr val="F8FBFF"/>
      </a:lt2>
      <a:accent1>
        <a:srgbClr val="2464EB"/>
      </a:accent1>
      <a:accent2>
        <a:srgbClr val="008868"/>
      </a:accent2>
      <a:accent3>
        <a:srgbClr val="6D28D9"/>
      </a:accent3>
      <a:accent4>
        <a:srgbClr val="E79012"/>
      </a:accent4>
      <a:accent5>
        <a:srgbClr val="D93025"/>
      </a:accent5>
      <a:accent6>
        <a:srgbClr val="566680"/>
      </a:accent6>
      <a:hlink>
        <a:srgbClr val="2464EB"/>
      </a:hlink>
      <a:folHlink>
        <a:srgbClr val="6D28D9"/>
      </a:folHlink>
    </a:clrScheme>
    <a:fontScheme name="Portfolio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Portfol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김병규 백엔드 포트폴리오</dc:title>
  <dc:creator>김병규</dc:creator>
  <cp:lastModifiedBy>Codex</cp:lastModifiedBy>
</cp:coreProperties>
</file>